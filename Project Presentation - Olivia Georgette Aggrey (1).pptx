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324" r:id="rId5"/>
    <p:sldId id="327" r:id="rId6"/>
    <p:sldId id="328" r:id="rId7"/>
    <p:sldId id="347" r:id="rId8"/>
    <p:sldId id="330" r:id="rId9"/>
    <p:sldId id="329" r:id="rId10"/>
    <p:sldId id="348" r:id="rId11"/>
    <p:sldId id="331" r:id="rId12"/>
    <p:sldId id="332" r:id="rId13"/>
    <p:sldId id="353" r:id="rId14"/>
    <p:sldId id="354" r:id="rId15"/>
    <p:sldId id="355" r:id="rId16"/>
    <p:sldId id="336" r:id="rId17"/>
    <p:sldId id="343" r:id="rId18"/>
    <p:sldId id="357" r:id="rId19"/>
    <p:sldId id="358" r:id="rId20"/>
    <p:sldId id="359" r:id="rId21"/>
    <p:sldId id="360" r:id="rId22"/>
    <p:sldId id="361" r:id="rId23"/>
    <p:sldId id="356" r:id="rId24"/>
    <p:sldId id="352" r:id="rId25"/>
    <p:sldId id="31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ivia Aggrey" initials="OA" lastIdx="1" clrIdx="0">
    <p:extLst>
      <p:ext uri="{19B8F6BF-5375-455C-9EA6-DF929625EA0E}">
        <p15:presenceInfo xmlns:p15="http://schemas.microsoft.com/office/powerpoint/2012/main" userId="S::oga00032@students.stir.ac.uk::a16ee6c4-5e66-4fbc-8f4a-79bbeb4ff23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AE628C-84C4-2D32-AC0E-C631CBEC02CA}" v="1743" dt="2025-11-28T23:08:24.884"/>
    <p1510:client id="{08B5D4EA-F222-4114-895F-ACE04CFFFC21}" v="30" dt="2025-11-29T15:12:36.531"/>
    <p1510:client id="{17E516C1-761C-27EB-AAA1-7F7B2AE0A0A0}" v="157" dt="2025-11-28T23:45:32.032"/>
    <p1510:client id="{29493399-B836-171E-6D5F-0D5F727153FC}" v="188" dt="2025-11-28T23:56:35.556"/>
    <p1510:client id="{4E7DC166-EEF0-461A-A88E-E7F899831FDF}" v="635" dt="2025-11-28T14:16:25.736"/>
    <p1510:client id="{72BA2E06-61A6-711B-E2F8-33883A627338}" v="18" dt="2025-11-28T17:33:41.562"/>
    <p1510:client id="{C8A33F81-1C5A-7AA6-0EC4-B95FF194F065}" v="879" dt="2025-11-28T18:57:16.103"/>
    <p1510:client id="{F05A915F-A977-4A21-8F75-2DC41E4099D4}" v="90" dt="2025-11-28T13:07:45.5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968"/>
        <p:guide pos="408"/>
        <p:guide orient="horz" pos="3912"/>
        <p:guide pos="7272"/>
        <p:guide orient="horz" pos="1656"/>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11/29/2025</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11/29/2025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1</a:t>
            </a:fld>
            <a:endParaRPr lang="en-US" noProof="0"/>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3D178-9ED0-D8D8-C1BA-410EA02E1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2DF05-6D4D-A893-294E-211BC5BDF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0B9FE-B626-3B7B-E835-2BCD41BD11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F1553E-12AB-77D4-E6F9-33FE01D307D9}"/>
              </a:ext>
            </a:extLst>
          </p:cNvPr>
          <p:cNvSpPr>
            <a:spLocks noGrp="1"/>
          </p:cNvSpPr>
          <p:nvPr>
            <p:ph type="sldNum" sz="quarter" idx="5"/>
          </p:nvPr>
        </p:nvSpPr>
        <p:spPr/>
        <p:txBody>
          <a:bodyPr/>
          <a:lstStyle/>
          <a:p>
            <a:fld id="{8530193B-564F-4854-8A52-728F3FB19C85}" type="slidenum">
              <a:rPr lang="en-US" noProof="0" smtClean="0"/>
              <a:t>2</a:t>
            </a:fld>
            <a:endParaRPr lang="en-US" noProof="0"/>
          </a:p>
        </p:txBody>
      </p:sp>
    </p:spTree>
    <p:extLst>
      <p:ext uri="{BB962C8B-B14F-4D97-AF65-F5344CB8AC3E}">
        <p14:creationId xmlns:p14="http://schemas.microsoft.com/office/powerpoint/2010/main" val="40523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4F3F8-9D79-1788-E930-F466D2015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87220-C34A-4102-06E2-E384E5EE2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BB14A-AF17-5301-6AE7-A97088C179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8B4929-CA35-48F8-018E-9ADBA90A86C7}"/>
              </a:ext>
            </a:extLst>
          </p:cNvPr>
          <p:cNvSpPr>
            <a:spLocks noGrp="1"/>
          </p:cNvSpPr>
          <p:nvPr>
            <p:ph type="sldNum" sz="quarter" idx="5"/>
          </p:nvPr>
        </p:nvSpPr>
        <p:spPr/>
        <p:txBody>
          <a:bodyPr/>
          <a:lstStyle/>
          <a:p>
            <a:fld id="{8530193B-564F-4854-8A52-728F3FB19C85}" type="slidenum">
              <a:rPr lang="en-US" noProof="0" smtClean="0"/>
              <a:t>3</a:t>
            </a:fld>
            <a:endParaRPr lang="en-US" noProof="0"/>
          </a:p>
        </p:txBody>
      </p:sp>
    </p:spTree>
    <p:extLst>
      <p:ext uri="{BB962C8B-B14F-4D97-AF65-F5344CB8AC3E}">
        <p14:creationId xmlns:p14="http://schemas.microsoft.com/office/powerpoint/2010/main" val="1644517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F68FA-37C4-0CBA-AB24-80A721C8A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A9FE9-BF5B-55A2-DADB-7195E10E4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66E05-1868-0EDC-73B0-5F86F8CC4F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A93228-758D-82F0-3805-5868BB37E5A8}"/>
              </a:ext>
            </a:extLst>
          </p:cNvPr>
          <p:cNvSpPr>
            <a:spLocks noGrp="1"/>
          </p:cNvSpPr>
          <p:nvPr>
            <p:ph type="sldNum" sz="quarter" idx="5"/>
          </p:nvPr>
        </p:nvSpPr>
        <p:spPr/>
        <p:txBody>
          <a:bodyPr/>
          <a:lstStyle/>
          <a:p>
            <a:fld id="{8530193B-564F-4854-8A52-728F3FB19C85}" type="slidenum">
              <a:rPr lang="en-US" noProof="0" smtClean="0"/>
              <a:t>4</a:t>
            </a:fld>
            <a:endParaRPr lang="en-US" noProof="0"/>
          </a:p>
        </p:txBody>
      </p:sp>
    </p:spTree>
    <p:extLst>
      <p:ext uri="{BB962C8B-B14F-4D97-AF65-F5344CB8AC3E}">
        <p14:creationId xmlns:p14="http://schemas.microsoft.com/office/powerpoint/2010/main" val="3715453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367B-F202-66E4-F39B-5E2F850EE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44A2F-871F-9E9D-2204-5AC2585FF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3C698A-4E7E-BA1C-EF7D-293CFDC09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2B2221-D8FF-3B59-0265-CA9B075E1F9C}"/>
              </a:ext>
            </a:extLst>
          </p:cNvPr>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2314110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41E6-1DC9-F0F8-D327-2C35FF63A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30D79-BA64-CF07-12E5-CA8449763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6F3F2-EF24-473E-F99A-38AFE898BA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8F9038-7DA8-01AB-5F5F-7811F0A910B9}"/>
              </a:ext>
            </a:extLst>
          </p:cNvPr>
          <p:cNvSpPr>
            <a:spLocks noGrp="1"/>
          </p:cNvSpPr>
          <p:nvPr>
            <p:ph type="sldNum" sz="quarter" idx="5"/>
          </p:nvPr>
        </p:nvSpPr>
        <p:spPr/>
        <p:txBody>
          <a:bodyPr/>
          <a:lstStyle/>
          <a:p>
            <a:fld id="{8530193B-564F-4854-8A52-728F3FB19C85}" type="slidenum">
              <a:rPr lang="en-US" noProof="0" smtClean="0"/>
              <a:t>6</a:t>
            </a:fld>
            <a:endParaRPr lang="en-US" noProof="0"/>
          </a:p>
        </p:txBody>
      </p:sp>
    </p:spTree>
    <p:extLst>
      <p:ext uri="{BB962C8B-B14F-4D97-AF65-F5344CB8AC3E}">
        <p14:creationId xmlns:p14="http://schemas.microsoft.com/office/powerpoint/2010/main" val="544731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E5D8-8A26-AFFB-0F1B-827CCF1FC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B0B42-705F-4BF0-03D3-7245078979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7F6A9-F66C-A317-EC6F-6BC8E258C6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D5D151-22EF-3F5D-F12F-F9B14328315C}"/>
              </a:ext>
            </a:extLst>
          </p:cNvPr>
          <p:cNvSpPr>
            <a:spLocks noGrp="1"/>
          </p:cNvSpPr>
          <p:nvPr>
            <p:ph type="sldNum" sz="quarter" idx="5"/>
          </p:nvPr>
        </p:nvSpPr>
        <p:spPr/>
        <p:txBody>
          <a:bodyPr/>
          <a:lstStyle/>
          <a:p>
            <a:fld id="{8530193B-564F-4854-8A52-728F3FB19C85}" type="slidenum">
              <a:rPr lang="en-US" noProof="0" smtClean="0"/>
              <a:t>7</a:t>
            </a:fld>
            <a:endParaRPr lang="en-US" noProof="0"/>
          </a:p>
        </p:txBody>
      </p:sp>
    </p:spTree>
    <p:extLst>
      <p:ext uri="{BB962C8B-B14F-4D97-AF65-F5344CB8AC3E}">
        <p14:creationId xmlns:p14="http://schemas.microsoft.com/office/powerpoint/2010/main" val="2682694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91031-4A7D-E62C-1D48-3216A3CFD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14FE8-48E0-07FC-B987-C02F8C7B0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91FB1-5F74-84E0-ED1F-2BFED9D40E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FF8A3F-77DA-CC0D-F6C0-4C83841098BA}"/>
              </a:ext>
            </a:extLst>
          </p:cNvPr>
          <p:cNvSpPr>
            <a:spLocks noGrp="1"/>
          </p:cNvSpPr>
          <p:nvPr>
            <p:ph type="sldNum" sz="quarter" idx="5"/>
          </p:nvPr>
        </p:nvSpPr>
        <p:spPr/>
        <p:txBody>
          <a:bodyPr/>
          <a:lstStyle/>
          <a:p>
            <a:fld id="{8530193B-564F-4854-8A52-728F3FB19C85}" type="slidenum">
              <a:rPr lang="en-US" noProof="0" smtClean="0"/>
              <a:t>8</a:t>
            </a:fld>
            <a:endParaRPr lang="en-US" noProof="0"/>
          </a:p>
        </p:txBody>
      </p:sp>
    </p:spTree>
    <p:extLst>
      <p:ext uri="{BB962C8B-B14F-4D97-AF65-F5344CB8AC3E}">
        <p14:creationId xmlns:p14="http://schemas.microsoft.com/office/powerpoint/2010/main" val="3105890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0E6F8-5598-6BBC-2782-A28D6E416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2CCD9-FA88-817A-1AA3-0B3ACF13C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80E79-B4CB-155D-1D1E-69163B640A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B256A9-BC0D-4CEA-9BEF-1AC000DCEF21}"/>
              </a:ext>
            </a:extLst>
          </p:cNvPr>
          <p:cNvSpPr>
            <a:spLocks noGrp="1"/>
          </p:cNvSpPr>
          <p:nvPr>
            <p:ph type="sldNum" sz="quarter" idx="5"/>
          </p:nvPr>
        </p:nvSpPr>
        <p:spPr/>
        <p:txBody>
          <a:bodyPr/>
          <a:lstStyle/>
          <a:p>
            <a:fld id="{8530193B-564F-4854-8A52-728F3FB19C85}" type="slidenum">
              <a:rPr lang="en-US" noProof="0" smtClean="0"/>
              <a:t>9</a:t>
            </a:fld>
            <a:endParaRPr lang="en-US" noProof="0"/>
          </a:p>
        </p:txBody>
      </p:sp>
    </p:spTree>
    <p:extLst>
      <p:ext uri="{BB962C8B-B14F-4D97-AF65-F5344CB8AC3E}">
        <p14:creationId xmlns:p14="http://schemas.microsoft.com/office/powerpoint/2010/main" val="2319813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0151C-BBA4-38EC-A1BD-9A7D454DA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AF598-5340-5ACB-0519-B454752C5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2A512C-8316-1169-4016-A2E3E63DEB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EAE4AD-8A7C-45C4-D5B4-EE4427DA0744}"/>
              </a:ext>
            </a:extLst>
          </p:cNvPr>
          <p:cNvSpPr>
            <a:spLocks noGrp="1"/>
          </p:cNvSpPr>
          <p:nvPr>
            <p:ph type="sldNum" sz="quarter" idx="5"/>
          </p:nvPr>
        </p:nvSpPr>
        <p:spPr/>
        <p:txBody>
          <a:bodyPr/>
          <a:lstStyle/>
          <a:p>
            <a:fld id="{8530193B-564F-4854-8A52-728F3FB19C85}" type="slidenum">
              <a:rPr lang="en-US" noProof="0" smtClean="0"/>
              <a:t>10</a:t>
            </a:fld>
            <a:endParaRPr lang="en-US" noProof="0"/>
          </a:p>
        </p:txBody>
      </p:sp>
    </p:spTree>
    <p:extLst>
      <p:ext uri="{BB962C8B-B14F-4D97-AF65-F5344CB8AC3E}">
        <p14:creationId xmlns:p14="http://schemas.microsoft.com/office/powerpoint/2010/main" val="2168413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D82C0-3F78-391B-B9C1-9A7565381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AE3B1-6FA4-5F31-F02B-52A4A4D56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B6B60-A401-FD4A-7D11-7865544D65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F263A5-3579-2F6D-E6C4-C5686123F730}"/>
              </a:ext>
            </a:extLst>
          </p:cNvPr>
          <p:cNvSpPr>
            <a:spLocks noGrp="1"/>
          </p:cNvSpPr>
          <p:nvPr>
            <p:ph type="sldNum" sz="quarter" idx="5"/>
          </p:nvPr>
        </p:nvSpPr>
        <p:spPr/>
        <p:txBody>
          <a:bodyPr/>
          <a:lstStyle/>
          <a:p>
            <a:fld id="{8530193B-564F-4854-8A52-728F3FB19C85}" type="slidenum">
              <a:rPr lang="en-US" noProof="0" smtClean="0"/>
              <a:t>11</a:t>
            </a:fld>
            <a:endParaRPr lang="en-US" noProof="0"/>
          </a:p>
        </p:txBody>
      </p:sp>
    </p:spTree>
    <p:extLst>
      <p:ext uri="{BB962C8B-B14F-4D97-AF65-F5344CB8AC3E}">
        <p14:creationId xmlns:p14="http://schemas.microsoft.com/office/powerpoint/2010/main" val="490053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7B0A-14DB-16FC-5B08-5CB1E2D80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52141-1725-B2B4-2C2B-4ED3306CE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E169D-B279-A6C5-4884-DADD8A4B0B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560270-995B-4D75-E21A-B836BD675DD8}"/>
              </a:ext>
            </a:extLst>
          </p:cNvPr>
          <p:cNvSpPr>
            <a:spLocks noGrp="1"/>
          </p:cNvSpPr>
          <p:nvPr>
            <p:ph type="sldNum" sz="quarter" idx="5"/>
          </p:nvPr>
        </p:nvSpPr>
        <p:spPr/>
        <p:txBody>
          <a:bodyPr/>
          <a:lstStyle/>
          <a:p>
            <a:fld id="{8530193B-564F-4854-8A52-728F3FB19C85}" type="slidenum">
              <a:rPr lang="en-US" noProof="0" smtClean="0"/>
              <a:t>12</a:t>
            </a:fld>
            <a:endParaRPr lang="en-US" noProof="0"/>
          </a:p>
        </p:txBody>
      </p:sp>
    </p:spTree>
    <p:extLst>
      <p:ext uri="{BB962C8B-B14F-4D97-AF65-F5344CB8AC3E}">
        <p14:creationId xmlns:p14="http://schemas.microsoft.com/office/powerpoint/2010/main" val="705884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a:lstStyle>
            <a:lvl1pPr>
              <a:spcBef>
                <a:spcPts val="1000"/>
              </a:spcBef>
              <a:defRPr sz="4800" b="1">
                <a:solidFill>
                  <a:schemeClr val="bg1"/>
                </a:solidFill>
              </a:defRPr>
            </a:lvl1pPr>
          </a:lstStyle>
          <a:p>
            <a:r>
              <a:rPr lang="en-US"/>
              <a:t>Click to edit Master title style</a:t>
            </a:r>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anchor="b"/>
          <a:lstStyle>
            <a:lvl1pPr algn="r">
              <a:buNone/>
              <a:defRPr lang="en-US" sz="1600" kern="1200" dirty="0" smtClean="0">
                <a:solidFill>
                  <a:schemeClr val="bg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tx1"/>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a:lstStyle>
            <a:lvl1pPr algn="ctr">
              <a:spcBef>
                <a:spcPts val="1000"/>
              </a:spcBef>
              <a:defRPr sz="2800">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anchor="ctr"/>
          <a:lstStyle>
            <a:lvl1pPr algn="ct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anchor="ctr">
            <a:noAutofit/>
          </a:bodyPr>
          <a:lstStyle>
            <a:lvl1pPr algn="ctr">
              <a:buNone/>
              <a:defRPr/>
            </a:lvl1pPr>
          </a:lstStyle>
          <a:p>
            <a:r>
              <a:rPr lang="en-US"/>
              <a:t>Click icon to add picture</a:t>
            </a:r>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anchor="ctr">
            <a:noAutofit/>
          </a:bodyPr>
          <a:lstStyle>
            <a:lvl1pPr algn="ctr">
              <a:buNone/>
              <a:defRPr/>
            </a:lvl1pPr>
          </a:lstStyle>
          <a:p>
            <a:r>
              <a:rPr lang="en-US"/>
              <a:t>Click icon to add picture</a:t>
            </a:r>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a:lstStyle>
            <a:lvl1pPr marL="0" indent="0">
              <a:buNone/>
              <a:defRPr sz="2000"/>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anchor="ctr">
            <a:noAutofit/>
          </a:bodyPr>
          <a:lstStyle>
            <a:lvl1pPr algn="ctr">
              <a:buNone/>
              <a:defRPr/>
            </a:lvl1pPr>
          </a:lstStyle>
          <a:p>
            <a:r>
              <a:rPr lang="en-US"/>
              <a:t>Click icon to add picture</a:t>
            </a:r>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A1AD702D-965C-40E9-8D23-D82E2CFA9E61}"/>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100">
              <a:solidFill>
                <a:schemeClr val="accent2"/>
              </a:solidFill>
            </a:endParaRPr>
          </a:p>
        </p:txBody>
      </p:sp>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100" b="1">
              <a:solidFill>
                <a:schemeClr val="accent2"/>
              </a:solidFill>
            </a:endParaRP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Lst>
  <p:hf sldNum="0"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x.com/timebokkaraa2/status/1991753639690662243?t=SW37b4bwUeuiD4cKDApoQg&amp;s=08"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0" y="0"/>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11" name="Text Placeholder 10">
            <a:extLst>
              <a:ext uri="{FF2B5EF4-FFF2-40B4-BE49-F238E27FC236}">
                <a16:creationId xmlns:a16="http://schemas.microsoft.com/office/drawing/2014/main" id="{E6DF5064-7AAC-4887-9BD5-FB6BC40A6768}"/>
              </a:ext>
            </a:extLst>
          </p:cNvPr>
          <p:cNvSpPr>
            <a:spLocks noGrp="1"/>
          </p:cNvSpPr>
          <p:nvPr>
            <p:ph type="body" sz="quarter" idx="13"/>
          </p:nvPr>
        </p:nvSpPr>
        <p:spPr>
          <a:xfrm>
            <a:off x="661180" y="4543864"/>
            <a:ext cx="9383151" cy="1089645"/>
          </a:xfrm>
        </p:spPr>
        <p:txBody>
          <a:bodyPr lIns="91440" tIns="45720" rIns="91440" bIns="45720" anchor="b"/>
          <a:lstStyle/>
          <a:p>
            <a:pPr algn="ctr"/>
            <a:r>
              <a:rPr lang="en-US" sz="2400"/>
              <a:t>BY: OLIVIA GEORGETTE AGGREY</a:t>
            </a:r>
          </a:p>
        </p:txBody>
      </p:sp>
      <p:sp>
        <p:nvSpPr>
          <p:cNvPr id="10" name="Text Placeholder 9">
            <a:extLst>
              <a:ext uri="{FF2B5EF4-FFF2-40B4-BE49-F238E27FC236}">
                <a16:creationId xmlns:a16="http://schemas.microsoft.com/office/drawing/2014/main" id="{3070CF44-EFC8-9BE0-A3D6-9433CECF7934}"/>
              </a:ext>
            </a:extLst>
          </p:cNvPr>
          <p:cNvSpPr>
            <a:spLocks noGrp="1"/>
          </p:cNvSpPr>
          <p:nvPr>
            <p:ph type="body" sz="quarter" idx="11"/>
          </p:nvPr>
        </p:nvSpPr>
        <p:spPr>
          <a:xfrm>
            <a:off x="1659988" y="3095568"/>
            <a:ext cx="8651629" cy="878726"/>
          </a:xfrm>
        </p:spPr>
        <p:txBody>
          <a:bodyPr lIns="91440" tIns="45720" rIns="91440" bIns="45720" anchor="t"/>
          <a:lstStyle/>
          <a:p>
            <a:pPr algn="ctr"/>
            <a:r>
              <a:rPr lang="en-US">
                <a:latin typeface="Calibri"/>
                <a:ea typeface="Calibri"/>
                <a:cs typeface="Calibri"/>
              </a:rPr>
              <a:t>A Comprehensive Analysis of Sales, Customer Behavior, and Revenue Insights.</a:t>
            </a:r>
            <a:endParaRPr lang="en-US">
              <a:ea typeface="Calibri" panose="020F0502020204030204" pitchFamily="34" charset="0"/>
            </a:endParaRPr>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1055077" y="1385128"/>
            <a:ext cx="9115865" cy="1519310"/>
          </a:xfrm>
        </p:spPr>
        <p:txBody>
          <a:bodyPr lIns="91440" tIns="45720" rIns="91440" bIns="45720" anchor="t"/>
          <a:lstStyle/>
          <a:p>
            <a:pPr algn="ctr"/>
            <a:r>
              <a:rPr lang="en-US"/>
              <a:t>PIZZA SALES AND PERFORMANCE DASHBOARD</a:t>
            </a:r>
            <a:br>
              <a:rPr lang="en-US" sz="4800"/>
            </a:br>
            <a:endParaRPr lang="en-US" sz="3000"/>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7E7E556-2374-BBB8-EC5D-1A496C319511}"/>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35ACEADE-A308-7E77-AC74-B8128A8D5B1C}"/>
              </a:ext>
            </a:extLst>
          </p:cNvPr>
          <p:cNvSpPr>
            <a:spLocks noGrp="1"/>
          </p:cNvSpPr>
          <p:nvPr>
            <p:ph sz="quarter" idx="10"/>
          </p:nvPr>
        </p:nvSpPr>
        <p:spPr>
          <a:xfrm>
            <a:off x="838200" y="1659988"/>
            <a:ext cx="10515600" cy="4563012"/>
          </a:xfrm>
        </p:spPr>
        <p:txBody>
          <a:bodyPr lIns="91440" tIns="45720" rIns="91440" bIns="45720" anchor="t"/>
          <a:lstStyle/>
          <a:p>
            <a:pPr marL="0" indent="0">
              <a:lnSpc>
                <a:spcPct val="150000"/>
              </a:lnSpc>
              <a:buNone/>
            </a:pPr>
            <a:r>
              <a:rPr lang="en-US" sz="2000">
                <a:solidFill>
                  <a:schemeClr val="tx1"/>
                </a:solidFill>
                <a:latin typeface="Arial"/>
                <a:ea typeface="+mn-lt"/>
                <a:cs typeface="+mn-lt"/>
              </a:rPr>
              <a:t>The pizza restaurant operates in a highly competitive food service environment where data-driven decision making is essential for growth. To remain competitive, management requires insights into sales performance, customer ordering patterns, product preferences, and revenue contribution across different pizza categories and sizes.</a:t>
            </a:r>
            <a:endParaRPr lang="en-US"/>
          </a:p>
          <a:p>
            <a:pPr marL="0" indent="0">
              <a:lnSpc>
                <a:spcPct val="150000"/>
              </a:lnSpc>
              <a:buNone/>
            </a:pPr>
            <a:r>
              <a:rPr lang="en-US" sz="2000">
                <a:solidFill>
                  <a:schemeClr val="tx1"/>
                </a:solidFill>
                <a:latin typeface="Arial"/>
                <a:ea typeface="+mn-lt"/>
                <a:cs typeface="+mn-lt"/>
              </a:rPr>
              <a:t>This analysis uses the 2015 pizza sales dataset to explore order behavior, product performance, and revenue drivers through interactive dashboards built in Power BI. The findings highlight the key areas the company should target to maximize revenue, reduce inefficiencies, optimize menu offerings, and improve overall operational performance.</a:t>
            </a:r>
            <a:endParaRPr lang="en-US">
              <a:solidFill>
                <a:schemeClr val="tx1"/>
              </a:solidFill>
              <a:latin typeface="Calibri Light"/>
              <a:ea typeface="Calibri Light"/>
              <a:cs typeface="Calibri Light"/>
            </a:endParaRPr>
          </a:p>
          <a:p>
            <a:pPr marL="0" indent="0">
              <a:lnSpc>
                <a:spcPct val="150000"/>
              </a:lnSpc>
              <a:buNone/>
            </a:pPr>
            <a:endParaRPr lang="en-US" sz="2000">
              <a:solidFill>
                <a:schemeClr val="tx1"/>
              </a:solidFill>
              <a:latin typeface="Arial"/>
              <a:ea typeface="Calibri Light"/>
              <a:cs typeface="Arial"/>
            </a:endParaRPr>
          </a:p>
        </p:txBody>
      </p:sp>
      <p:sp>
        <p:nvSpPr>
          <p:cNvPr id="9" name="Title 8">
            <a:extLst>
              <a:ext uri="{FF2B5EF4-FFF2-40B4-BE49-F238E27FC236}">
                <a16:creationId xmlns:a16="http://schemas.microsoft.com/office/drawing/2014/main" id="{E26CC437-1651-E3FA-880D-DB53B6794181}"/>
              </a:ext>
            </a:extLst>
          </p:cNvPr>
          <p:cNvSpPr>
            <a:spLocks noGrp="1"/>
          </p:cNvSpPr>
          <p:nvPr>
            <p:ph type="title"/>
          </p:nvPr>
        </p:nvSpPr>
        <p:spPr/>
        <p:txBody>
          <a:bodyPr/>
          <a:lstStyle/>
          <a:p>
            <a:pPr algn="l"/>
            <a:r>
              <a:rPr lang="en-US"/>
              <a:t>Overview</a:t>
            </a:r>
          </a:p>
        </p:txBody>
      </p:sp>
    </p:spTree>
    <p:extLst>
      <p:ext uri="{BB962C8B-B14F-4D97-AF65-F5344CB8AC3E}">
        <p14:creationId xmlns:p14="http://schemas.microsoft.com/office/powerpoint/2010/main" val="243057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A0A047A-A4DF-A97A-325C-FFFD13E5889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F771203-FB2F-E225-47D0-5BEF81D6B3D4}"/>
              </a:ext>
            </a:extLst>
          </p:cNvPr>
          <p:cNvSpPr>
            <a:spLocks noGrp="1"/>
          </p:cNvSpPr>
          <p:nvPr>
            <p:ph type="body" sz="quarter" idx="12"/>
          </p:nvPr>
        </p:nvSpPr>
        <p:spPr>
          <a:xfrm>
            <a:off x="660400" y="1833157"/>
            <a:ext cx="10016979" cy="4416577"/>
          </a:xfrm>
        </p:spPr>
        <p:txBody>
          <a:bodyPr lIns="91440" tIns="45720" rIns="91440" bIns="45720" anchor="t"/>
          <a:lstStyle/>
          <a:p>
            <a:pPr marL="0" indent="0">
              <a:buNone/>
            </a:pPr>
            <a:r>
              <a:rPr lang="en-US">
                <a:solidFill>
                  <a:schemeClr val="tx1"/>
                </a:solidFill>
                <a:latin typeface="Arial"/>
                <a:ea typeface="+mn-lt"/>
                <a:cs typeface="+mn-lt"/>
              </a:rPr>
              <a:t>The restaurant generates thousands of pizza orders each year, but management lacks clear visibility into which products drive the most revenue, how customers order, and which operational patterns affect sales performance. Without a structured analysis of order behavior, product trends, and revenue drivers, the business risks missed opportunities, inefficient resource allocation, and declining profitability.</a:t>
            </a:r>
            <a:endParaRPr lang="en-US">
              <a:solidFill>
                <a:schemeClr val="tx1"/>
              </a:solidFill>
              <a:latin typeface="Arial"/>
              <a:cs typeface="Arial"/>
            </a:endParaRPr>
          </a:p>
          <a:p>
            <a:pPr marL="0" indent="0">
              <a:buNone/>
            </a:pPr>
            <a:endParaRPr lang="en-US" altLang="en-US">
              <a:solidFill>
                <a:schemeClr val="tx1"/>
              </a:solidFill>
              <a:latin typeface="Arial" panose="020B0604020202020204" pitchFamily="34" charset="0"/>
            </a:endParaRPr>
          </a:p>
          <a:p>
            <a:pPr marL="0" indent="0">
              <a:buNone/>
            </a:pPr>
            <a:endParaRPr lang="en-US"/>
          </a:p>
          <a:p>
            <a:endParaRPr lang="en-US"/>
          </a:p>
          <a:p>
            <a:endParaRPr lang="en-US"/>
          </a:p>
          <a:p>
            <a:endParaRPr lang="en-US"/>
          </a:p>
        </p:txBody>
      </p:sp>
      <p:sp>
        <p:nvSpPr>
          <p:cNvPr id="9" name="Title 8">
            <a:extLst>
              <a:ext uri="{FF2B5EF4-FFF2-40B4-BE49-F238E27FC236}">
                <a16:creationId xmlns:a16="http://schemas.microsoft.com/office/drawing/2014/main" id="{4FDD1975-EF64-489E-AE3B-ACFA8E6CA7DE}"/>
              </a:ext>
            </a:extLst>
          </p:cNvPr>
          <p:cNvSpPr>
            <a:spLocks noGrp="1"/>
          </p:cNvSpPr>
          <p:nvPr>
            <p:ph type="title"/>
          </p:nvPr>
        </p:nvSpPr>
        <p:spPr>
          <a:xfrm>
            <a:off x="660400" y="805213"/>
            <a:ext cx="7711326" cy="888506"/>
          </a:xfrm>
        </p:spPr>
        <p:txBody>
          <a:bodyPr lIns="91440" tIns="45720" rIns="91440" bIns="45720" anchor="t"/>
          <a:lstStyle/>
          <a:p>
            <a:r>
              <a:rPr lang="en-US"/>
              <a:t>Problem Statement</a:t>
            </a:r>
          </a:p>
        </p:txBody>
      </p:sp>
    </p:spTree>
    <p:extLst>
      <p:ext uri="{BB962C8B-B14F-4D97-AF65-F5344CB8AC3E}">
        <p14:creationId xmlns:p14="http://schemas.microsoft.com/office/powerpoint/2010/main" val="531762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D3B8F425-D95B-5469-2630-ECEF427B493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B7E82A6-974D-FA50-5E94-DA00BDDAE3C7}"/>
              </a:ext>
            </a:extLst>
          </p:cNvPr>
          <p:cNvSpPr>
            <a:spLocks noGrp="1"/>
          </p:cNvSpPr>
          <p:nvPr>
            <p:ph type="body" sz="quarter" idx="12"/>
          </p:nvPr>
        </p:nvSpPr>
        <p:spPr>
          <a:xfrm>
            <a:off x="660400" y="1473724"/>
            <a:ext cx="10016979" cy="4776010"/>
          </a:xfrm>
        </p:spPr>
        <p:txBody>
          <a:bodyPr lIns="91440" tIns="45720" rIns="91440" bIns="45720" anchor="t"/>
          <a:lstStyle/>
          <a:p>
            <a:pPr marL="0" indent="0">
              <a:buNone/>
            </a:pPr>
            <a:r>
              <a:rPr lang="en-US">
                <a:solidFill>
                  <a:schemeClr val="tx1"/>
                </a:solidFill>
                <a:latin typeface="Arial"/>
                <a:cs typeface="Arial"/>
              </a:rPr>
              <a:t>The analysis aims to:</a:t>
            </a:r>
          </a:p>
          <a:p>
            <a:r>
              <a:rPr lang="en-US">
                <a:solidFill>
                  <a:schemeClr val="tx1"/>
                </a:solidFill>
                <a:latin typeface="Arial"/>
                <a:cs typeface="Arial"/>
              </a:rPr>
              <a:t>Provide a comprehensive overview of sales, revenue, and product performance.</a:t>
            </a:r>
            <a:endParaRPr lang="en-US">
              <a:solidFill>
                <a:schemeClr val="tx1"/>
              </a:solidFill>
              <a:latin typeface="Arial" panose="020B0604020202020204" pitchFamily="34" charset="0"/>
              <a:cs typeface="Arial" panose="020B0604020202020204" pitchFamily="34" charset="0"/>
            </a:endParaRPr>
          </a:p>
          <a:p>
            <a:r>
              <a:rPr lang="en-US">
                <a:solidFill>
                  <a:schemeClr val="tx1"/>
                </a:solidFill>
                <a:latin typeface="Arial"/>
                <a:cs typeface="Arial"/>
              </a:rPr>
              <a:t>Identify top-selling and low-selling pizzas to support menu optimization.</a:t>
            </a:r>
            <a:endParaRPr lang="en-US">
              <a:solidFill>
                <a:schemeClr val="tx1"/>
              </a:solidFill>
              <a:latin typeface="Arial" panose="020B0604020202020204" pitchFamily="34" charset="0"/>
              <a:cs typeface="Arial" panose="020B0604020202020204" pitchFamily="34" charset="0"/>
            </a:endParaRPr>
          </a:p>
          <a:p>
            <a:r>
              <a:rPr lang="en-US">
                <a:solidFill>
                  <a:schemeClr val="tx1"/>
                </a:solidFill>
                <a:latin typeface="Arial"/>
                <a:cs typeface="Arial"/>
              </a:rPr>
              <a:t>Analyze customer </a:t>
            </a:r>
            <a:r>
              <a:rPr lang="en-US">
                <a:solidFill>
                  <a:schemeClr val="tx1"/>
                </a:solidFill>
                <a:latin typeface="Arial"/>
                <a:ea typeface="+mn-lt"/>
                <a:cs typeface="+mn-lt"/>
              </a:rPr>
              <a:t>ordering patterns, including single vs. multi-pizza behavior.</a:t>
            </a:r>
            <a:endParaRPr lang="en-US" altLang="en-US">
              <a:solidFill>
                <a:schemeClr val="tx1"/>
              </a:solidFill>
              <a:latin typeface="Arial"/>
              <a:cs typeface="Arial" panose="020B0604020202020204" pitchFamily="34" charset="0"/>
            </a:endParaRPr>
          </a:p>
          <a:p>
            <a:r>
              <a:rPr lang="en-US">
                <a:solidFill>
                  <a:schemeClr val="tx1"/>
                </a:solidFill>
                <a:latin typeface="Arial"/>
                <a:ea typeface="+mn-lt"/>
                <a:cs typeface="+mn-lt"/>
              </a:rPr>
              <a:t>Understand revenue contribution across pizza sizes, categories, and order types.</a:t>
            </a:r>
            <a:endParaRPr lang="en-US">
              <a:solidFill>
                <a:schemeClr val="tx1"/>
              </a:solidFill>
              <a:latin typeface="Arial"/>
              <a:cs typeface="Arial"/>
            </a:endParaRPr>
          </a:p>
          <a:p>
            <a:r>
              <a:rPr lang="en-US">
                <a:solidFill>
                  <a:schemeClr val="tx1"/>
                </a:solidFill>
                <a:latin typeface="Arial"/>
                <a:ea typeface="+mn-lt"/>
                <a:cs typeface="+mn-lt"/>
              </a:rPr>
              <a:t>Reveal peak ordering hours and key demand periods.</a:t>
            </a:r>
            <a:endParaRPr lang="en-US">
              <a:solidFill>
                <a:schemeClr val="tx1"/>
              </a:solidFill>
              <a:latin typeface="Arial"/>
              <a:cs typeface="Arial"/>
            </a:endParaRPr>
          </a:p>
          <a:p>
            <a:r>
              <a:rPr lang="en-US">
                <a:solidFill>
                  <a:schemeClr val="tx1"/>
                </a:solidFill>
                <a:latin typeface="Arial"/>
                <a:ea typeface="+mn-lt"/>
                <a:cs typeface="+mn-lt"/>
              </a:rPr>
              <a:t>Deliver actionable insights that guide strategic decisions and improve performance</a:t>
            </a:r>
            <a:endParaRPr lang="en-US">
              <a:solidFill>
                <a:schemeClr val="tx1"/>
              </a:solidFill>
              <a:latin typeface="Arial"/>
              <a:cs typeface="Arial"/>
            </a:endParaRPr>
          </a:p>
          <a:p>
            <a:endParaRPr lang="en-US" altLang="en-US">
              <a:solidFill>
                <a:schemeClr val="tx1"/>
              </a:solidFill>
              <a:latin typeface="Arial" panose="020B0604020202020204" pitchFamily="34" charset="0"/>
              <a:cs typeface="Arial"/>
            </a:endParaRPr>
          </a:p>
          <a:p>
            <a:pPr marL="0" indent="0">
              <a:buNone/>
            </a:pPr>
            <a:endParaRPr lang="en-US"/>
          </a:p>
          <a:p>
            <a:endParaRPr lang="en-US"/>
          </a:p>
          <a:p>
            <a:endParaRPr lang="en-US"/>
          </a:p>
          <a:p>
            <a:endParaRPr lang="en-US"/>
          </a:p>
        </p:txBody>
      </p:sp>
      <p:sp>
        <p:nvSpPr>
          <p:cNvPr id="9" name="Title 8">
            <a:extLst>
              <a:ext uri="{FF2B5EF4-FFF2-40B4-BE49-F238E27FC236}">
                <a16:creationId xmlns:a16="http://schemas.microsoft.com/office/drawing/2014/main" id="{ADD5B0E7-4A3A-6E6A-04CA-0E7A70042EBB}"/>
              </a:ext>
            </a:extLst>
          </p:cNvPr>
          <p:cNvSpPr>
            <a:spLocks noGrp="1"/>
          </p:cNvSpPr>
          <p:nvPr>
            <p:ph type="title"/>
          </p:nvPr>
        </p:nvSpPr>
        <p:spPr>
          <a:xfrm>
            <a:off x="660400" y="805213"/>
            <a:ext cx="7711326" cy="888506"/>
          </a:xfrm>
        </p:spPr>
        <p:txBody>
          <a:bodyPr lIns="91440" tIns="45720" rIns="91440" bIns="45720" anchor="t"/>
          <a:lstStyle/>
          <a:p>
            <a:r>
              <a:rPr lang="en-US"/>
              <a:t>Project Objectives</a:t>
            </a:r>
          </a:p>
        </p:txBody>
      </p:sp>
    </p:spTree>
    <p:extLst>
      <p:ext uri="{BB962C8B-B14F-4D97-AF65-F5344CB8AC3E}">
        <p14:creationId xmlns:p14="http://schemas.microsoft.com/office/powerpoint/2010/main" val="611581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E73FBF8-0A3D-26B4-10C1-44D13006FDC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2F08C31-12A4-1C5A-A95E-A392E69B5DF0}"/>
              </a:ext>
            </a:extLst>
          </p:cNvPr>
          <p:cNvSpPr>
            <a:spLocks noGrp="1"/>
          </p:cNvSpPr>
          <p:nvPr>
            <p:ph type="body" sz="quarter" idx="12"/>
          </p:nvPr>
        </p:nvSpPr>
        <p:spPr>
          <a:xfrm>
            <a:off x="660400" y="1023763"/>
            <a:ext cx="10016979" cy="5517714"/>
          </a:xfrm>
        </p:spPr>
        <p:txBody>
          <a:bodyPr lIns="91440" tIns="45720" rIns="91440" bIns="45720" anchor="t"/>
          <a:lstStyle/>
          <a:p>
            <a:r>
              <a:rPr lang="en-US" altLang="en-US" b="1">
                <a:solidFill>
                  <a:schemeClr val="tx1"/>
                </a:solidFill>
                <a:latin typeface="Arial"/>
                <a:cs typeface="Arial"/>
              </a:rPr>
              <a:t>Source: </a:t>
            </a:r>
            <a:r>
              <a:rPr lang="en-US" altLang="en-US">
                <a:solidFill>
                  <a:schemeClr val="tx1"/>
                </a:solidFill>
                <a:latin typeface="Arial"/>
                <a:cs typeface="Arial"/>
              </a:rPr>
              <a:t>Pizza Sales Dataset (2015) from</a:t>
            </a:r>
            <a:r>
              <a:rPr lang="en-US" altLang="en-US" b="1">
                <a:solidFill>
                  <a:schemeClr val="tx1"/>
                </a:solidFill>
                <a:latin typeface="Arial"/>
                <a:cs typeface="Arial"/>
              </a:rPr>
              <a:t> </a:t>
            </a:r>
            <a:r>
              <a:rPr lang="en-US" altLang="en-US">
                <a:solidFill>
                  <a:schemeClr val="tx1"/>
                </a:solidFill>
                <a:latin typeface="Arial"/>
                <a:cs typeface="Arial"/>
              </a:rPr>
              <a:t> </a:t>
            </a:r>
            <a:r>
              <a:rPr lang="en-US" altLang="en-US" b="1">
                <a:solidFill>
                  <a:schemeClr val="tx1"/>
                </a:solidFill>
                <a:latin typeface="Arial"/>
                <a:cs typeface="Arial"/>
              </a:rPr>
              <a:t>@timebokkaraa2 on X</a:t>
            </a:r>
            <a:endParaRPr lang="en-US" altLang="en-US" b="1">
              <a:solidFill>
                <a:schemeClr val="tx1"/>
              </a:solidFill>
              <a:latin typeface="Arial" panose="020B0604020202020204" pitchFamily="34" charset="0"/>
              <a:cs typeface="Arial"/>
            </a:endParaRPr>
          </a:p>
          <a:p>
            <a:r>
              <a:rPr lang="en-US" altLang="en-US" b="1">
                <a:solidFill>
                  <a:schemeClr val="tx1"/>
                </a:solidFill>
                <a:latin typeface="Arial"/>
                <a:cs typeface="Arial"/>
              </a:rPr>
              <a:t>Source URL: </a:t>
            </a:r>
            <a:r>
              <a:rPr lang="en-US" altLang="en-US" b="1">
                <a:solidFill>
                  <a:schemeClr val="tx1"/>
                </a:solidFill>
                <a:latin typeface="Arial"/>
                <a:cs typeface="Arial"/>
                <a:hlinkClick r:id="rId3">
                  <a:extLst>
                    <a:ext uri="{A12FA001-AC4F-418D-AE19-62706E023703}">
                      <ahyp:hlinkClr xmlns:ahyp="http://schemas.microsoft.com/office/drawing/2018/hyperlinkcolor" val="tx"/>
                    </a:ext>
                  </a:extLst>
                </a:hlinkClick>
              </a:rPr>
              <a:t>CLICK HERE</a:t>
            </a:r>
            <a:endParaRPr lang="en-US">
              <a:solidFill>
                <a:schemeClr val="tx1"/>
              </a:solidFill>
              <a:latin typeface="Calibri Light"/>
              <a:ea typeface="Calibri Light"/>
              <a:cs typeface="Calibri Light"/>
            </a:endParaRPr>
          </a:p>
          <a:p>
            <a:r>
              <a:rPr lang="en-US" altLang="en-US" b="1">
                <a:solidFill>
                  <a:schemeClr val="tx1"/>
                </a:solidFill>
                <a:latin typeface="Arial"/>
                <a:cs typeface="Arial"/>
              </a:rPr>
              <a:t>Time Period: </a:t>
            </a:r>
            <a:r>
              <a:rPr lang="en-US" altLang="en-US">
                <a:solidFill>
                  <a:schemeClr val="tx1"/>
                </a:solidFill>
                <a:latin typeface="Arial"/>
                <a:cs typeface="Arial"/>
              </a:rPr>
              <a:t>January – December 2015</a:t>
            </a:r>
          </a:p>
          <a:p>
            <a:r>
              <a:rPr lang="en-US" altLang="en-US" b="1">
                <a:solidFill>
                  <a:schemeClr val="tx1"/>
                </a:solidFill>
                <a:latin typeface="Arial"/>
                <a:cs typeface="Arial"/>
              </a:rPr>
              <a:t>Rows: 48,665</a:t>
            </a:r>
            <a:r>
              <a:rPr lang="en-US" altLang="en-US">
                <a:solidFill>
                  <a:schemeClr val="tx1"/>
                </a:solidFill>
                <a:latin typeface="Arial"/>
                <a:cs typeface="Arial"/>
              </a:rPr>
              <a:t> records</a:t>
            </a:r>
          </a:p>
          <a:p>
            <a:r>
              <a:rPr lang="en-US" altLang="en-US" b="1">
                <a:solidFill>
                  <a:schemeClr val="tx1"/>
                </a:solidFill>
                <a:latin typeface="Arial"/>
                <a:cs typeface="Arial"/>
              </a:rPr>
              <a:t>Columns: </a:t>
            </a:r>
            <a:r>
              <a:rPr lang="en-US" altLang="en-US">
                <a:solidFill>
                  <a:schemeClr val="tx1"/>
                </a:solidFill>
                <a:latin typeface="Arial"/>
                <a:cs typeface="Arial"/>
              </a:rPr>
              <a:t>12 fields</a:t>
            </a:r>
          </a:p>
          <a:p>
            <a:r>
              <a:rPr lang="en-US" altLang="en-US" b="1">
                <a:solidFill>
                  <a:schemeClr val="tx1"/>
                </a:solidFill>
                <a:latin typeface="Arial" panose="020B0604020202020204" pitchFamily="34" charset="0"/>
              </a:rPr>
              <a:t>Key Fields: </a:t>
            </a:r>
          </a:p>
          <a:p>
            <a:pPr>
              <a:buFont typeface="Wingdings" panose="05000000000000000000" pitchFamily="2" charset="2"/>
              <a:buChar char="v"/>
            </a:pPr>
            <a:r>
              <a:rPr lang="en-US" altLang="en-US">
                <a:solidFill>
                  <a:schemeClr val="tx1"/>
                </a:solidFill>
                <a:latin typeface="Arial"/>
                <a:cs typeface="Arial"/>
              </a:rPr>
              <a:t>Orders → Order ID, Order Date, Order Time</a:t>
            </a:r>
            <a:endParaRPr lang="en-US" altLang="en-US">
              <a:solidFill>
                <a:schemeClr val="tx1"/>
              </a:solidFill>
              <a:latin typeface="Arial" panose="020B0604020202020204" pitchFamily="34" charset="0"/>
              <a:cs typeface="Arial"/>
            </a:endParaRPr>
          </a:p>
          <a:p>
            <a:pPr>
              <a:buFont typeface="Wingdings" panose="05000000000000000000" pitchFamily="2" charset="2"/>
              <a:buChar char="v"/>
            </a:pPr>
            <a:r>
              <a:rPr lang="en-US" altLang="en-US">
                <a:solidFill>
                  <a:schemeClr val="tx1"/>
                </a:solidFill>
                <a:latin typeface="Arial"/>
                <a:cs typeface="Arial"/>
              </a:rPr>
              <a:t>Products → Pizza Name, Pizza Category, Pizza Size, Pizza ID</a:t>
            </a:r>
            <a:endParaRPr lang="en-US" altLang="en-US">
              <a:solidFill>
                <a:schemeClr val="tx1"/>
              </a:solidFill>
              <a:latin typeface="Arial" panose="020B0604020202020204" pitchFamily="34" charset="0"/>
              <a:cs typeface="Arial"/>
            </a:endParaRPr>
          </a:p>
          <a:p>
            <a:pPr>
              <a:buFont typeface="Wingdings" panose="05000000000000000000" pitchFamily="2" charset="2"/>
              <a:buChar char="v"/>
            </a:pPr>
            <a:r>
              <a:rPr lang="en-US" altLang="en-US">
                <a:solidFill>
                  <a:schemeClr val="tx1"/>
                </a:solidFill>
                <a:latin typeface="Arial"/>
                <a:cs typeface="Arial"/>
              </a:rPr>
              <a:t>Sales &amp; Performance → Quantity, Unit Price, Total Price</a:t>
            </a:r>
            <a:endParaRPr lang="en-US" altLang="en-US">
              <a:solidFill>
                <a:schemeClr val="tx1"/>
              </a:solidFill>
              <a:latin typeface="Arial" panose="020B0604020202020204" pitchFamily="34" charset="0"/>
              <a:cs typeface="Arial"/>
            </a:endParaRPr>
          </a:p>
          <a:p>
            <a:pPr marL="0" indent="0">
              <a:buNone/>
            </a:pPr>
            <a:endParaRPr lang="en-US" altLang="en-US">
              <a:solidFill>
                <a:schemeClr val="tx1"/>
              </a:solidFill>
              <a:latin typeface="Arial" panose="020B0604020202020204" pitchFamily="34" charset="0"/>
            </a:endParaRPr>
          </a:p>
          <a:p>
            <a:pPr marL="0" indent="0">
              <a:buNone/>
            </a:pPr>
            <a:r>
              <a:rPr lang="en-US" altLang="en-US">
                <a:solidFill>
                  <a:schemeClr val="tx1"/>
                </a:solidFill>
                <a:latin typeface="Arial" panose="020B0604020202020204" pitchFamily="34" charset="0"/>
              </a:rPr>
              <a:t>              </a:t>
            </a:r>
          </a:p>
          <a:p>
            <a:endParaRPr lang="en-US" altLang="en-US">
              <a:solidFill>
                <a:schemeClr val="tx1"/>
              </a:solidFill>
              <a:latin typeface="Arial" panose="020B0604020202020204" pitchFamily="34" charset="0"/>
            </a:endParaRPr>
          </a:p>
          <a:p>
            <a:endParaRPr lang="en-US" altLang="en-US">
              <a:solidFill>
                <a:schemeClr val="tx1"/>
              </a:solidFill>
              <a:latin typeface="Arial" panose="020B0604020202020204" pitchFamily="34" charset="0"/>
            </a:endParaRPr>
          </a:p>
          <a:p>
            <a:endParaRPr lang="en-US" altLang="en-US">
              <a:solidFill>
                <a:schemeClr val="tx1"/>
              </a:solidFill>
              <a:latin typeface="Arial" panose="020B0604020202020204" pitchFamily="34" charset="0"/>
            </a:endParaRPr>
          </a:p>
          <a:p>
            <a:endParaRPr lang="en-US"/>
          </a:p>
          <a:p>
            <a:endParaRPr lang="en-US"/>
          </a:p>
          <a:p>
            <a:endParaRPr lang="en-US"/>
          </a:p>
          <a:p>
            <a:endParaRPr lang="en-US"/>
          </a:p>
        </p:txBody>
      </p:sp>
      <p:sp>
        <p:nvSpPr>
          <p:cNvPr id="9" name="Title 8">
            <a:extLst>
              <a:ext uri="{FF2B5EF4-FFF2-40B4-BE49-F238E27FC236}">
                <a16:creationId xmlns:a16="http://schemas.microsoft.com/office/drawing/2014/main" id="{AC6C3989-2DB6-0D36-ADB3-B103730855A9}"/>
              </a:ext>
            </a:extLst>
          </p:cNvPr>
          <p:cNvSpPr>
            <a:spLocks noGrp="1"/>
          </p:cNvSpPr>
          <p:nvPr>
            <p:ph type="title"/>
          </p:nvPr>
        </p:nvSpPr>
        <p:spPr>
          <a:xfrm>
            <a:off x="111369" y="192766"/>
            <a:ext cx="5557520" cy="830997"/>
          </a:xfrm>
        </p:spPr>
        <p:txBody>
          <a:bodyPr/>
          <a:lstStyle/>
          <a:p>
            <a:pPr algn="l"/>
            <a:r>
              <a:rPr lang="en-US"/>
              <a:t>Dataset Overview</a:t>
            </a:r>
          </a:p>
        </p:txBody>
      </p:sp>
    </p:spTree>
    <p:extLst>
      <p:ext uri="{BB962C8B-B14F-4D97-AF65-F5344CB8AC3E}">
        <p14:creationId xmlns:p14="http://schemas.microsoft.com/office/powerpoint/2010/main" val="1643995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19B9-37F0-79E2-8F91-BB657E62328E}"/>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D07843B8-3225-DDA7-A9DB-0E2A72CA20B9}"/>
              </a:ext>
            </a:extLst>
          </p:cNvPr>
          <p:cNvSpPr>
            <a:spLocks noGrp="1"/>
          </p:cNvSpPr>
          <p:nvPr>
            <p:ph type="body" sz="quarter" idx="12"/>
          </p:nvPr>
        </p:nvSpPr>
        <p:spPr>
          <a:xfrm>
            <a:off x="660400" y="966398"/>
            <a:ext cx="9848166" cy="5532087"/>
          </a:xfrm>
        </p:spPr>
        <p:txBody>
          <a:bodyPr lIns="91440" tIns="45720" rIns="91440" bIns="45720" anchor="t"/>
          <a:lstStyle/>
          <a:p>
            <a:pPr marL="0" indent="0">
              <a:buNone/>
            </a:pPr>
            <a:r>
              <a:rPr lang="en-US" dirty="0">
                <a:solidFill>
                  <a:schemeClr val="tx1"/>
                </a:solidFill>
                <a:latin typeface="Arial"/>
                <a:ea typeface="+mn-lt"/>
                <a:cs typeface="+mn-lt"/>
              </a:rPr>
              <a:t>This analysis follows a structured approach:</a:t>
            </a:r>
            <a:endParaRPr lang="en-US" dirty="0">
              <a:solidFill>
                <a:schemeClr val="tx1"/>
              </a:solidFill>
              <a:latin typeface="Arial"/>
              <a:cs typeface="Arial"/>
            </a:endParaRPr>
          </a:p>
          <a:p>
            <a:pPr marL="457200" indent="-457200">
              <a:buAutoNum type="arabicPeriod"/>
            </a:pPr>
            <a:r>
              <a:rPr lang="en-US" b="1" dirty="0">
                <a:solidFill>
                  <a:schemeClr val="tx1"/>
                </a:solidFill>
                <a:latin typeface="Arial"/>
                <a:ea typeface="+mn-lt"/>
                <a:cs typeface="+mn-lt"/>
              </a:rPr>
              <a:t>Data Cleaning &amp; Preparation</a:t>
            </a:r>
            <a:endParaRPr lang="en-US" dirty="0">
              <a:solidFill>
                <a:schemeClr val="tx1"/>
              </a:solidFill>
              <a:latin typeface="Arial"/>
              <a:ea typeface="Calibri Light"/>
              <a:cs typeface="Calibri Light"/>
            </a:endParaRPr>
          </a:p>
          <a:p>
            <a:pPr lvl="1"/>
            <a:r>
              <a:rPr lang="en-US" dirty="0">
                <a:solidFill>
                  <a:schemeClr val="tx1"/>
                </a:solidFill>
                <a:latin typeface="Arial"/>
                <a:ea typeface="+mn-lt"/>
                <a:cs typeface="+mn-lt"/>
              </a:rPr>
              <a:t>Corrected data types, created calculated columns, and standardized fields.</a:t>
            </a:r>
            <a:endParaRPr lang="en-US" dirty="0">
              <a:solidFill>
                <a:schemeClr val="tx1"/>
              </a:solidFill>
              <a:latin typeface="Arial"/>
              <a:ea typeface="Calibri Light"/>
              <a:cs typeface="Calibri Light"/>
            </a:endParaRPr>
          </a:p>
          <a:p>
            <a:pPr marL="266700" lvl="1" indent="0">
              <a:buNone/>
            </a:pPr>
            <a:endParaRPr lang="en-US">
              <a:solidFill>
                <a:schemeClr val="tx1"/>
              </a:solidFill>
              <a:latin typeface="Arial"/>
              <a:ea typeface="+mn-lt"/>
              <a:cs typeface="+mn-lt"/>
            </a:endParaRPr>
          </a:p>
          <a:p>
            <a:pPr>
              <a:buAutoNum type="arabicPeriod"/>
            </a:pPr>
            <a:r>
              <a:rPr lang="en-US" b="1" dirty="0">
                <a:solidFill>
                  <a:schemeClr val="tx1"/>
                </a:solidFill>
                <a:latin typeface="Arial"/>
                <a:ea typeface="+mn-lt"/>
                <a:cs typeface="+mn-lt"/>
              </a:rPr>
              <a:t>Data Modeling</a:t>
            </a:r>
            <a:endParaRPr lang="en-US" dirty="0">
              <a:solidFill>
                <a:schemeClr val="tx1"/>
              </a:solidFill>
              <a:latin typeface="Arial"/>
              <a:ea typeface="+mn-lt"/>
              <a:cs typeface="+mn-lt"/>
            </a:endParaRPr>
          </a:p>
          <a:p>
            <a:pPr lvl="1"/>
            <a:r>
              <a:rPr lang="en-US" dirty="0">
                <a:solidFill>
                  <a:schemeClr val="tx1"/>
                </a:solidFill>
                <a:latin typeface="Arial"/>
                <a:ea typeface="+mn-lt"/>
                <a:cs typeface="+mn-lt"/>
              </a:rPr>
              <a:t>Established relationships between tables to enable accurate filtering and reporting.</a:t>
            </a:r>
            <a:endParaRPr lang="en-US" dirty="0">
              <a:solidFill>
                <a:schemeClr val="tx1"/>
              </a:solidFill>
              <a:latin typeface="Arial"/>
              <a:cs typeface="Arial"/>
            </a:endParaRPr>
          </a:p>
          <a:p>
            <a:pPr lvl="1"/>
            <a:r>
              <a:rPr lang="en-US" dirty="0">
                <a:solidFill>
                  <a:schemeClr val="tx1"/>
                </a:solidFill>
                <a:latin typeface="Arial"/>
                <a:ea typeface="+mn-lt"/>
                <a:cs typeface="+mn-lt"/>
              </a:rPr>
              <a:t>Created measures for revenue, quantity, pizzas per order, and category-level insights.</a:t>
            </a:r>
            <a:endParaRPr lang="en-US" dirty="0">
              <a:solidFill>
                <a:schemeClr val="tx1"/>
              </a:solidFill>
              <a:latin typeface="Arial"/>
              <a:ea typeface="Calibri Light"/>
              <a:cs typeface="Calibri Light"/>
            </a:endParaRPr>
          </a:p>
          <a:p>
            <a:pPr marL="266700" lvl="1" indent="0">
              <a:buNone/>
            </a:pPr>
            <a:endParaRPr lang="en-US">
              <a:solidFill>
                <a:schemeClr val="tx1"/>
              </a:solidFill>
              <a:latin typeface="Arial"/>
              <a:ea typeface="+mn-lt"/>
              <a:cs typeface="+mn-lt"/>
            </a:endParaRPr>
          </a:p>
          <a:p>
            <a:pPr>
              <a:buAutoNum type="arabicPeriod"/>
            </a:pPr>
            <a:r>
              <a:rPr lang="en-US" b="1" dirty="0">
                <a:solidFill>
                  <a:schemeClr val="tx1"/>
                </a:solidFill>
                <a:latin typeface="Arial"/>
                <a:ea typeface="+mn-lt"/>
                <a:cs typeface="+mn-lt"/>
              </a:rPr>
              <a:t>Exploratory Data Analysis (EDA)</a:t>
            </a:r>
            <a:endParaRPr lang="en-US" dirty="0">
              <a:solidFill>
                <a:schemeClr val="tx1"/>
              </a:solidFill>
              <a:latin typeface="Arial"/>
              <a:ea typeface="Calibri Light"/>
              <a:cs typeface="Calibri Light"/>
            </a:endParaRPr>
          </a:p>
          <a:p>
            <a:pPr lvl="1"/>
            <a:r>
              <a:rPr lang="en-US" dirty="0">
                <a:solidFill>
                  <a:schemeClr val="tx1"/>
                </a:solidFill>
                <a:latin typeface="Arial"/>
                <a:ea typeface="+mn-lt"/>
                <a:cs typeface="+mn-lt"/>
              </a:rPr>
              <a:t>Identified trends in sales, revenue, customer behavior, and product performance.</a:t>
            </a:r>
            <a:endParaRPr lang="en-US" dirty="0">
              <a:solidFill>
                <a:schemeClr val="tx1"/>
              </a:solidFill>
              <a:latin typeface="Arial"/>
            </a:endParaRPr>
          </a:p>
          <a:p>
            <a:pPr marL="0" indent="0">
              <a:buNone/>
            </a:pPr>
            <a:endParaRPr lang="en-US" b="1">
              <a:solidFill>
                <a:schemeClr val="tx1"/>
              </a:solidFill>
              <a:latin typeface="Arial" panose="020B0604020202020204" pitchFamily="34" charset="0"/>
              <a:cs typeface="Arial" panose="020B0604020202020204" pitchFamily="34" charset="0"/>
            </a:endParaRPr>
          </a:p>
          <a:p>
            <a:pPr>
              <a:buAutoNum type="arabicPeriod"/>
            </a:pPr>
            <a:endParaRPr lang="en-US">
              <a:ea typeface="Calibri Light"/>
              <a:cs typeface="Calibri Light"/>
            </a:endParaRPr>
          </a:p>
        </p:txBody>
      </p:sp>
      <p:sp>
        <p:nvSpPr>
          <p:cNvPr id="9" name="Title 8">
            <a:extLst>
              <a:ext uri="{FF2B5EF4-FFF2-40B4-BE49-F238E27FC236}">
                <a16:creationId xmlns:a16="http://schemas.microsoft.com/office/drawing/2014/main" id="{F77F8D0B-620E-9E64-F4F9-114C7CEBFDB9}"/>
              </a:ext>
            </a:extLst>
          </p:cNvPr>
          <p:cNvSpPr>
            <a:spLocks noGrp="1"/>
          </p:cNvSpPr>
          <p:nvPr>
            <p:ph type="title"/>
          </p:nvPr>
        </p:nvSpPr>
        <p:spPr>
          <a:xfrm>
            <a:off x="444740" y="316383"/>
            <a:ext cx="5937348" cy="830997"/>
          </a:xfrm>
        </p:spPr>
        <p:txBody>
          <a:bodyPr lIns="91440" tIns="45720" rIns="91440" bIns="45720" anchor="t"/>
          <a:lstStyle/>
          <a:p>
            <a:pPr algn="l"/>
            <a:r>
              <a:rPr lang="en-US" dirty="0"/>
              <a:t>Methodology</a:t>
            </a:r>
          </a:p>
        </p:txBody>
      </p:sp>
    </p:spTree>
    <p:extLst>
      <p:ext uri="{BB962C8B-B14F-4D97-AF65-F5344CB8AC3E}">
        <p14:creationId xmlns:p14="http://schemas.microsoft.com/office/powerpoint/2010/main" val="2024822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649EB-A16E-5061-001E-87BEB24A70C9}"/>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540714D8-2DFD-B192-FA32-9AC6EF3910A4}"/>
              </a:ext>
            </a:extLst>
          </p:cNvPr>
          <p:cNvSpPr>
            <a:spLocks noGrp="1"/>
          </p:cNvSpPr>
          <p:nvPr>
            <p:ph type="body" sz="quarter" idx="12"/>
          </p:nvPr>
        </p:nvSpPr>
        <p:spPr>
          <a:xfrm>
            <a:off x="660400" y="966398"/>
            <a:ext cx="9848166" cy="5086389"/>
          </a:xfrm>
        </p:spPr>
        <p:txBody>
          <a:bodyPr lIns="91440" tIns="45720" rIns="91440" bIns="45720" anchor="t"/>
          <a:lstStyle/>
          <a:p>
            <a:pPr marL="0" indent="0">
              <a:buNone/>
            </a:pPr>
            <a:endParaRPr lang="en-US">
              <a:solidFill>
                <a:schemeClr val="tx1"/>
              </a:solidFill>
              <a:ea typeface="Calibri Light"/>
              <a:cs typeface="Calibri Light"/>
            </a:endParaRPr>
          </a:p>
          <a:p>
            <a:pPr marL="0" indent="0">
              <a:buNone/>
            </a:pPr>
            <a:r>
              <a:rPr lang="en-US" b="1">
                <a:solidFill>
                  <a:schemeClr val="tx1"/>
                </a:solidFill>
                <a:latin typeface="Arial"/>
                <a:ea typeface="+mn-lt"/>
                <a:cs typeface="+mn-lt"/>
              </a:rPr>
              <a:t>  4. Dashboard Development (Power BI)</a:t>
            </a:r>
            <a:endParaRPr lang="en-US">
              <a:solidFill>
                <a:schemeClr val="tx1"/>
              </a:solidFill>
              <a:latin typeface="Arial"/>
              <a:ea typeface="Calibri Light"/>
              <a:cs typeface="Calibri Light"/>
            </a:endParaRPr>
          </a:p>
          <a:p>
            <a:pPr lvl="1"/>
            <a:r>
              <a:rPr lang="en-US">
                <a:solidFill>
                  <a:schemeClr val="tx1"/>
                </a:solidFill>
                <a:latin typeface="Arial"/>
                <a:ea typeface="+mn-lt"/>
                <a:cs typeface="+mn-lt"/>
              </a:rPr>
              <a:t>Built interactive visuals for product insights, customer behavior, and order patterns.</a:t>
            </a:r>
            <a:endParaRPr lang="en-US">
              <a:solidFill>
                <a:schemeClr val="tx1"/>
              </a:solidFill>
              <a:latin typeface="Arial"/>
              <a:cs typeface="Arial"/>
            </a:endParaRPr>
          </a:p>
          <a:p>
            <a:pPr lvl="1"/>
            <a:r>
              <a:rPr lang="en-US">
                <a:solidFill>
                  <a:schemeClr val="tx1"/>
                </a:solidFill>
                <a:latin typeface="Arial"/>
                <a:ea typeface="+mn-lt"/>
                <a:cs typeface="+mn-lt"/>
              </a:rPr>
              <a:t>Designed a multi-page report highlighting key performance indicators and insights.</a:t>
            </a:r>
            <a:endParaRPr lang="en-US">
              <a:solidFill>
                <a:schemeClr val="tx1"/>
              </a:solidFill>
              <a:latin typeface="Arial"/>
              <a:ea typeface="Calibri Light"/>
              <a:cs typeface="Calibri Light"/>
            </a:endParaRPr>
          </a:p>
          <a:p>
            <a:pPr marL="266700" lvl="1" indent="0">
              <a:buNone/>
            </a:pPr>
            <a:endParaRPr lang="en-US">
              <a:solidFill>
                <a:schemeClr val="tx1"/>
              </a:solidFill>
              <a:latin typeface="Arial"/>
              <a:ea typeface="+mn-lt"/>
              <a:cs typeface="+mn-lt"/>
            </a:endParaRPr>
          </a:p>
          <a:p>
            <a:pPr marL="0" indent="0">
              <a:buNone/>
            </a:pPr>
            <a:r>
              <a:rPr lang="en-US" b="1">
                <a:solidFill>
                  <a:schemeClr val="tx1"/>
                </a:solidFill>
                <a:latin typeface="Arial"/>
                <a:ea typeface="+mn-lt"/>
                <a:cs typeface="+mn-lt"/>
              </a:rPr>
              <a:t> 5. Interpretation &amp; Insight Generation</a:t>
            </a:r>
            <a:endParaRPr lang="en-US">
              <a:solidFill>
                <a:schemeClr val="tx1"/>
              </a:solidFill>
              <a:latin typeface="Arial"/>
              <a:ea typeface="Calibri Light"/>
              <a:cs typeface="Calibri Light"/>
            </a:endParaRPr>
          </a:p>
          <a:p>
            <a:pPr lvl="1"/>
            <a:r>
              <a:rPr lang="en-US">
                <a:solidFill>
                  <a:schemeClr val="tx1"/>
                </a:solidFill>
                <a:latin typeface="Arial"/>
                <a:ea typeface="+mn-lt"/>
                <a:cs typeface="+mn-lt"/>
              </a:rPr>
              <a:t>Drew conclusions from the data to support business recommendations.</a:t>
            </a:r>
            <a:endParaRPr lang="en-US">
              <a:solidFill>
                <a:schemeClr val="tx1"/>
              </a:solidFill>
              <a:latin typeface="Arial"/>
            </a:endParaRPr>
          </a:p>
          <a:p>
            <a:pPr marL="0" indent="0">
              <a:buNone/>
            </a:pPr>
            <a:endParaRPr lang="en-US" b="1">
              <a:solidFill>
                <a:schemeClr val="tx1"/>
              </a:solidFill>
              <a:latin typeface="Arial" panose="020B0604020202020204" pitchFamily="34" charset="0"/>
              <a:cs typeface="Arial" panose="020B0604020202020204" pitchFamily="34" charset="0"/>
            </a:endParaRPr>
          </a:p>
          <a:p>
            <a:pPr>
              <a:buAutoNum type="arabicPeriod"/>
            </a:pPr>
            <a:endParaRPr lang="en-US">
              <a:ea typeface="Calibri Light"/>
              <a:cs typeface="Calibri Light"/>
            </a:endParaRPr>
          </a:p>
        </p:txBody>
      </p:sp>
      <p:sp>
        <p:nvSpPr>
          <p:cNvPr id="9" name="Title 8">
            <a:extLst>
              <a:ext uri="{FF2B5EF4-FFF2-40B4-BE49-F238E27FC236}">
                <a16:creationId xmlns:a16="http://schemas.microsoft.com/office/drawing/2014/main" id="{C0FD4C0F-B4BA-8298-C559-5863F18632BD}"/>
              </a:ext>
            </a:extLst>
          </p:cNvPr>
          <p:cNvSpPr>
            <a:spLocks noGrp="1"/>
          </p:cNvSpPr>
          <p:nvPr>
            <p:ph type="title"/>
          </p:nvPr>
        </p:nvSpPr>
        <p:spPr>
          <a:xfrm>
            <a:off x="444740" y="316383"/>
            <a:ext cx="5937348" cy="830997"/>
          </a:xfrm>
        </p:spPr>
        <p:txBody>
          <a:bodyPr lIns="91440" tIns="45720" rIns="91440" bIns="45720" anchor="t"/>
          <a:lstStyle/>
          <a:p>
            <a:pPr algn="l"/>
            <a:r>
              <a:rPr lang="en-US"/>
              <a:t>Methodology</a:t>
            </a:r>
          </a:p>
        </p:txBody>
      </p:sp>
    </p:spTree>
    <p:extLst>
      <p:ext uri="{BB962C8B-B14F-4D97-AF65-F5344CB8AC3E}">
        <p14:creationId xmlns:p14="http://schemas.microsoft.com/office/powerpoint/2010/main" val="1046632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89A03-52F9-0202-D53F-D07BE2992BA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E12D774-FE71-A397-8E4B-91B5D444AA91}"/>
              </a:ext>
            </a:extLst>
          </p:cNvPr>
          <p:cNvSpPr>
            <a:spLocks noGrp="1"/>
          </p:cNvSpPr>
          <p:nvPr>
            <p:ph type="title"/>
          </p:nvPr>
        </p:nvSpPr>
        <p:spPr/>
        <p:txBody>
          <a:bodyPr/>
          <a:lstStyle/>
          <a:p>
            <a:pPr algn="l"/>
            <a:r>
              <a:rPr lang="en-US"/>
              <a:t>Business Questions</a:t>
            </a:r>
          </a:p>
        </p:txBody>
      </p:sp>
      <p:sp>
        <p:nvSpPr>
          <p:cNvPr id="2" name="Content Placeholder 1">
            <a:extLst>
              <a:ext uri="{FF2B5EF4-FFF2-40B4-BE49-F238E27FC236}">
                <a16:creationId xmlns:a16="http://schemas.microsoft.com/office/drawing/2014/main" id="{D969A41B-DD16-9E25-93FF-4E7341CF96EB}"/>
              </a:ext>
            </a:extLst>
          </p:cNvPr>
          <p:cNvSpPr>
            <a:spLocks noGrp="1" noChangeArrowheads="1"/>
          </p:cNvSpPr>
          <p:nvPr>
            <p:ph sz="quarter" idx="10"/>
          </p:nvPr>
        </p:nvSpPr>
        <p:spPr bwMode="auto">
          <a:xfrm>
            <a:off x="464388" y="2097236"/>
            <a:ext cx="10150536" cy="6909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buClr>
                <a:schemeClr val="accent4"/>
              </a:buClr>
            </a:pPr>
            <a:r>
              <a:rPr kumimoji="0" lang="en-US" sz="2000" i="0" u="none" strike="noStrike" cap="none" normalizeH="0" baseline="0">
                <a:ln>
                  <a:noFill/>
                </a:ln>
                <a:solidFill>
                  <a:schemeClr val="tx1"/>
                </a:solidFill>
                <a:effectLst/>
                <a:latin typeface="Arial"/>
                <a:ea typeface="+mn-lt"/>
                <a:cs typeface="+mn-lt"/>
              </a:rPr>
              <a:t>Which </a:t>
            </a:r>
            <a:r>
              <a:rPr lang="en-US" sz="2000">
                <a:solidFill>
                  <a:schemeClr val="tx1"/>
                </a:solidFill>
                <a:latin typeface="Arial"/>
                <a:ea typeface="+mn-lt"/>
                <a:cs typeface="+mn-lt"/>
              </a:rPr>
              <a:t>pizzas </a:t>
            </a:r>
            <a:r>
              <a:rPr kumimoji="0" lang="en-US" sz="2000" i="0" u="none" strike="noStrike" cap="none" normalizeH="0" baseline="0">
                <a:ln>
                  <a:noFill/>
                </a:ln>
                <a:solidFill>
                  <a:schemeClr val="tx1"/>
                </a:solidFill>
                <a:effectLst/>
                <a:latin typeface="Arial"/>
                <a:ea typeface="+mn-lt"/>
                <a:cs typeface="+mn-lt"/>
              </a:rPr>
              <a:t>generate the highest </a:t>
            </a:r>
            <a:r>
              <a:rPr lang="en-US" sz="2000">
                <a:solidFill>
                  <a:schemeClr val="tx1"/>
                </a:solidFill>
                <a:latin typeface="Arial"/>
                <a:ea typeface="+mn-lt"/>
                <a:cs typeface="+mn-lt"/>
              </a:rPr>
              <a:t>and lowest revenue</a:t>
            </a:r>
            <a:r>
              <a:rPr kumimoji="0" lang="en-US" sz="2000" i="0" u="none" strike="noStrike" cap="none" normalizeH="0" baseline="0">
                <a:ln>
                  <a:noFill/>
                </a:ln>
                <a:solidFill>
                  <a:schemeClr val="tx1"/>
                </a:solidFill>
                <a:effectLst/>
                <a:latin typeface="Arial"/>
                <a:ea typeface="+mn-lt"/>
                <a:cs typeface="+mn-lt"/>
              </a:rPr>
              <a:t>?</a:t>
            </a:r>
            <a:endParaRPr lang="en-US">
              <a:solidFill>
                <a:schemeClr val="tx1"/>
              </a:solidFill>
              <a:latin typeface="Arial"/>
              <a:ea typeface="+mn-lt"/>
              <a:cs typeface="+mn-lt"/>
            </a:endParaRPr>
          </a:p>
          <a:p>
            <a:pPr>
              <a:lnSpc>
                <a:spcPct val="150000"/>
              </a:lnSpc>
              <a:buClr>
                <a:srgbClr val="FA6F1A"/>
              </a:buClr>
            </a:pPr>
            <a:r>
              <a:rPr lang="en-US" sz="2000">
                <a:solidFill>
                  <a:schemeClr val="tx1"/>
                </a:solidFill>
                <a:latin typeface="Arial"/>
                <a:ea typeface="+mn-lt"/>
                <a:cs typeface="Arial"/>
              </a:rPr>
              <a:t>How does revenue vary by pizza size and category?</a:t>
            </a:r>
            <a:endParaRPr lang="en-US" sz="2000">
              <a:solidFill>
                <a:schemeClr val="tx1"/>
              </a:solidFill>
              <a:latin typeface="Arial"/>
              <a:ea typeface="+mn-lt"/>
              <a:cs typeface="+mn-lt"/>
            </a:endParaRPr>
          </a:p>
          <a:p>
            <a:pPr>
              <a:lnSpc>
                <a:spcPct val="150000"/>
              </a:lnSpc>
              <a:buClr>
                <a:srgbClr val="FA6F1A"/>
              </a:buClr>
            </a:pPr>
            <a:r>
              <a:rPr lang="en-US" sz="2000">
                <a:solidFill>
                  <a:schemeClr val="tx1"/>
                </a:solidFill>
                <a:latin typeface="Arial"/>
                <a:ea typeface="+mn-lt"/>
                <a:cs typeface="Arial"/>
              </a:rPr>
              <a:t>What are the peak sales hours, and how do ordering patterns change during the day?</a:t>
            </a:r>
          </a:p>
          <a:p>
            <a:pPr>
              <a:lnSpc>
                <a:spcPct val="150000"/>
              </a:lnSpc>
              <a:buClr>
                <a:srgbClr val="FA6F1A"/>
              </a:buClr>
            </a:pPr>
            <a:r>
              <a:rPr lang="en-US" sz="2000">
                <a:solidFill>
                  <a:schemeClr val="tx1"/>
                </a:solidFill>
                <a:latin typeface="Arial"/>
                <a:ea typeface="+mn-lt"/>
                <a:cs typeface="Arial"/>
              </a:rPr>
              <a:t>What percentage of orders are single vs multi-pizza orders?</a:t>
            </a:r>
          </a:p>
          <a:p>
            <a:pPr>
              <a:lnSpc>
                <a:spcPct val="150000"/>
              </a:lnSpc>
              <a:buClr>
                <a:srgbClr val="FA6F1A"/>
              </a:buClr>
            </a:pPr>
            <a:r>
              <a:rPr lang="en-US" sz="2000">
                <a:solidFill>
                  <a:schemeClr val="tx1"/>
                </a:solidFill>
                <a:latin typeface="Arial"/>
                <a:ea typeface="+mn-lt"/>
                <a:cs typeface="Arial"/>
              </a:rPr>
              <a:t>Which pizza categories are preferred by single vs multi-item buyers?</a:t>
            </a:r>
          </a:p>
          <a:p>
            <a:pPr>
              <a:lnSpc>
                <a:spcPct val="150000"/>
              </a:lnSpc>
              <a:buClr>
                <a:srgbClr val="FA6F1A"/>
              </a:buClr>
            </a:pPr>
            <a:r>
              <a:rPr lang="en-US" sz="2000">
                <a:solidFill>
                  <a:schemeClr val="tx1"/>
                </a:solidFill>
                <a:latin typeface="Arial"/>
                <a:ea typeface="+mn-lt"/>
                <a:cs typeface="Arial"/>
              </a:rPr>
              <a:t>How does monthly revenue trend differ between order types?</a:t>
            </a:r>
          </a:p>
          <a:p>
            <a:pPr>
              <a:lnSpc>
                <a:spcPct val="150000"/>
              </a:lnSpc>
            </a:pPr>
            <a:endParaRPr lang="en-US" sz="2000">
              <a:solidFill>
                <a:schemeClr val="tx1"/>
              </a:solidFill>
              <a:latin typeface="Arial"/>
              <a:ea typeface="+mn-lt"/>
              <a:cs typeface="+mn-lt"/>
            </a:endParaRPr>
          </a:p>
          <a:p>
            <a:pPr marL="0" indent="0">
              <a:lnSpc>
                <a:spcPct val="150000"/>
              </a:lnSpc>
              <a:buNone/>
            </a:pPr>
            <a:endParaRPr lang="en-US" sz="2000">
              <a:solidFill>
                <a:schemeClr val="tx1"/>
              </a:solidFill>
              <a:latin typeface="Arial"/>
              <a:ea typeface="Calibri Light"/>
              <a:cs typeface="Calibri Light"/>
            </a:endParaRPr>
          </a:p>
          <a:p>
            <a:pPr>
              <a:lnSpc>
                <a:spcPct val="150000"/>
              </a:lnSpc>
            </a:pPr>
            <a:endParaRPr lang="en-US" sz="2000">
              <a:solidFill>
                <a:schemeClr val="tx1"/>
              </a:solidFill>
              <a:latin typeface="Arial"/>
              <a:ea typeface="+mn-lt"/>
              <a:cs typeface="+mn-lt"/>
            </a:endParaRPr>
          </a:p>
          <a:p>
            <a:pPr marR="0" lvl="0" algn="l" defTabSz="914400">
              <a:lnSpc>
                <a:spcPct val="150000"/>
              </a:lnSpc>
              <a:buSzTx/>
              <a:tabLst/>
            </a:pPr>
            <a:endParaRPr lang="en-US" sz="2000" i="0" u="none" strike="noStrike" cap="none" normalizeH="0" baseline="0">
              <a:ln>
                <a:noFill/>
              </a:ln>
              <a:solidFill>
                <a:schemeClr val="tx1"/>
              </a:solidFill>
              <a:effectLst/>
              <a:latin typeface="Arial" panose="020B0604020202020204" pitchFamily="34" charset="0"/>
              <a:ea typeface="Calibri Light"/>
              <a:cs typeface="Calibri Light"/>
            </a:endParaRPr>
          </a:p>
          <a:p>
            <a:pPr marL="457200" marR="0" lvl="0" indent="-457200" algn="l" defTabSz="914400" rtl="0" latinLnBrk="0">
              <a:lnSpc>
                <a:spcPct val="250000"/>
              </a:lnSpc>
              <a:spcBef>
                <a:spcPct val="0"/>
              </a:spcBef>
              <a:spcAft>
                <a:spcPct val="0"/>
              </a:spcAft>
              <a:buClr>
                <a:srgbClr val="FA6F1A"/>
              </a:buClr>
              <a:buSzTx/>
              <a:buFont typeface="Arial" panose="020B0604020202020204" pitchFamily="34" charset="0"/>
              <a:buAutoNum type="arabicPeriod"/>
              <a:tabLst/>
            </a:pPr>
            <a:endParaRPr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None/>
            </a:pPr>
            <a:endParaRPr lang="en-US" altLang="en-US">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400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0FC546-857F-10D3-310C-176CFFF2262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14BCE431-E22B-E037-E976-A170086D4800}"/>
              </a:ext>
            </a:extLst>
          </p:cNvPr>
          <p:cNvSpPr>
            <a:spLocks noGrp="1"/>
          </p:cNvSpPr>
          <p:nvPr>
            <p:ph type="title"/>
          </p:nvPr>
        </p:nvSpPr>
        <p:spPr>
          <a:xfrm>
            <a:off x="9267909" y="2023110"/>
            <a:ext cx="2469624" cy="2846070"/>
          </a:xfrm>
        </p:spPr>
        <p:txBody>
          <a:bodyPr vert="horz" lIns="91440" tIns="45720" rIns="91440" bIns="45720" rtlCol="0" anchor="ctr">
            <a:normAutofit/>
          </a:bodyPr>
          <a:lstStyle/>
          <a:p>
            <a:pPr algn="l"/>
            <a:r>
              <a:rPr lang="en-US" sz="3700" kern="1200">
                <a:solidFill>
                  <a:schemeClr val="tx1"/>
                </a:solidFill>
                <a:latin typeface="+mj-lt"/>
                <a:ea typeface="+mj-ea"/>
                <a:cs typeface="+mj-cs"/>
              </a:rPr>
              <a:t>Dashboard</a:t>
            </a:r>
          </a:p>
        </p:txBody>
      </p:sp>
      <p:sp>
        <p:nvSpPr>
          <p:cNvPr id="23" name="Rectangle 2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data dashboard&#10;&#10;AI-generated content may be incorrect.">
            <a:extLst>
              <a:ext uri="{FF2B5EF4-FFF2-40B4-BE49-F238E27FC236}">
                <a16:creationId xmlns:a16="http://schemas.microsoft.com/office/drawing/2014/main" id="{78A50CC0-A972-BE79-E5D6-6BE8BABC0732}"/>
              </a:ext>
            </a:extLst>
          </p:cNvPr>
          <p:cNvPicPr>
            <a:picLocks noChangeAspect="1"/>
          </p:cNvPicPr>
          <p:nvPr/>
        </p:nvPicPr>
        <p:blipFill>
          <a:blip r:embed="rId3"/>
          <a:stretch>
            <a:fillRect/>
          </a:stretch>
        </p:blipFill>
        <p:spPr>
          <a:xfrm>
            <a:off x="415842" y="853611"/>
            <a:ext cx="7737700" cy="5394263"/>
          </a:xfrm>
          <a:prstGeom prst="rect">
            <a:avLst/>
          </a:prstGeom>
        </p:spPr>
      </p:pic>
      <p:sp>
        <p:nvSpPr>
          <p:cNvPr id="27" name="Rectangle 26">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5867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FAA8C1-4509-CB5D-520F-43C0B6623A2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3D86AA7-D194-4352-9E5F-6F8CDD929F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0A8E79E4-D563-4EC5-181D-2386E78864B5}"/>
              </a:ext>
            </a:extLst>
          </p:cNvPr>
          <p:cNvSpPr>
            <a:spLocks noGrp="1"/>
          </p:cNvSpPr>
          <p:nvPr>
            <p:ph type="title"/>
          </p:nvPr>
        </p:nvSpPr>
        <p:spPr>
          <a:xfrm>
            <a:off x="9267909" y="2023110"/>
            <a:ext cx="2469624" cy="2846070"/>
          </a:xfrm>
        </p:spPr>
        <p:txBody>
          <a:bodyPr vert="horz" lIns="91440" tIns="45720" rIns="91440" bIns="45720" rtlCol="0" anchor="ctr">
            <a:normAutofit/>
          </a:bodyPr>
          <a:lstStyle/>
          <a:p>
            <a:pPr algn="l"/>
            <a:r>
              <a:rPr lang="en-US" sz="3700" kern="1200">
                <a:solidFill>
                  <a:schemeClr val="tx1"/>
                </a:solidFill>
                <a:latin typeface="+mj-lt"/>
                <a:ea typeface="+mj-ea"/>
                <a:cs typeface="+mj-cs"/>
              </a:rPr>
              <a:t>Dashboard</a:t>
            </a:r>
          </a:p>
        </p:txBody>
      </p:sp>
      <p:sp>
        <p:nvSpPr>
          <p:cNvPr id="23" name="Rectangle 22">
            <a:extLst>
              <a:ext uri="{FF2B5EF4-FFF2-40B4-BE49-F238E27FC236}">
                <a16:creationId xmlns:a16="http://schemas.microsoft.com/office/drawing/2014/main" id="{DD666889-2CF9-B54B-A91C-18E4C8A12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1CC1060-93D1-A1B0-32A7-1AFD39331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data dashboard&#10;&#10;AI-generated content may be incorrect.">
            <a:extLst>
              <a:ext uri="{FF2B5EF4-FFF2-40B4-BE49-F238E27FC236}">
                <a16:creationId xmlns:a16="http://schemas.microsoft.com/office/drawing/2014/main" id="{355910DD-AD1C-4F20-0A28-CDAC9952712F}"/>
              </a:ext>
            </a:extLst>
          </p:cNvPr>
          <p:cNvPicPr>
            <a:picLocks noChangeAspect="1"/>
          </p:cNvPicPr>
          <p:nvPr/>
        </p:nvPicPr>
        <p:blipFill>
          <a:blip r:embed="rId3"/>
          <a:stretch>
            <a:fillRect/>
          </a:stretch>
        </p:blipFill>
        <p:spPr>
          <a:xfrm>
            <a:off x="424826" y="960167"/>
            <a:ext cx="7719732" cy="5483074"/>
          </a:xfrm>
          <a:prstGeom prst="rect">
            <a:avLst/>
          </a:prstGeom>
        </p:spPr>
      </p:pic>
      <p:sp>
        <p:nvSpPr>
          <p:cNvPr id="27" name="Rectangle 26">
            <a:extLst>
              <a:ext uri="{FF2B5EF4-FFF2-40B4-BE49-F238E27FC236}">
                <a16:creationId xmlns:a16="http://schemas.microsoft.com/office/drawing/2014/main" id="{AD0F0EE6-0599-2DD2-23B3-9B6DA2643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0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D99EEC-BD2B-8536-0BFF-B0B9DFE555A1}"/>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8456BE0-2001-7EC0-9451-69888D7F25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D46F05C7-0127-8187-FF42-2F3E1BBB3ACB}"/>
              </a:ext>
            </a:extLst>
          </p:cNvPr>
          <p:cNvSpPr>
            <a:spLocks noGrp="1"/>
          </p:cNvSpPr>
          <p:nvPr>
            <p:ph type="title"/>
          </p:nvPr>
        </p:nvSpPr>
        <p:spPr>
          <a:xfrm>
            <a:off x="9267909" y="2023110"/>
            <a:ext cx="2469624" cy="2846070"/>
          </a:xfrm>
        </p:spPr>
        <p:txBody>
          <a:bodyPr vert="horz" lIns="91440" tIns="45720" rIns="91440" bIns="45720" rtlCol="0" anchor="ctr">
            <a:normAutofit/>
          </a:bodyPr>
          <a:lstStyle/>
          <a:p>
            <a:pPr algn="l"/>
            <a:r>
              <a:rPr lang="en-US" sz="3700" kern="1200">
                <a:solidFill>
                  <a:schemeClr val="tx1"/>
                </a:solidFill>
                <a:latin typeface="+mj-lt"/>
                <a:ea typeface="+mj-ea"/>
                <a:cs typeface="+mj-cs"/>
              </a:rPr>
              <a:t>Dashboard</a:t>
            </a:r>
          </a:p>
        </p:txBody>
      </p:sp>
      <p:sp>
        <p:nvSpPr>
          <p:cNvPr id="23" name="Rectangle 22">
            <a:extLst>
              <a:ext uri="{FF2B5EF4-FFF2-40B4-BE49-F238E27FC236}">
                <a16:creationId xmlns:a16="http://schemas.microsoft.com/office/drawing/2014/main" id="{C4C683BC-7D0F-C40F-A7E8-1B90AD862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8ADB531-3B3E-E34C-7BA2-5DF8BF4D7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data dashboard&#10;&#10;AI-generated content may be incorrect.">
            <a:extLst>
              <a:ext uri="{FF2B5EF4-FFF2-40B4-BE49-F238E27FC236}">
                <a16:creationId xmlns:a16="http://schemas.microsoft.com/office/drawing/2014/main" id="{FB9D1F78-8285-8D1C-3BF9-4D24DB6055ED}"/>
              </a:ext>
            </a:extLst>
          </p:cNvPr>
          <p:cNvPicPr>
            <a:picLocks noChangeAspect="1"/>
          </p:cNvPicPr>
          <p:nvPr/>
        </p:nvPicPr>
        <p:blipFill>
          <a:blip r:embed="rId3"/>
          <a:stretch>
            <a:fillRect/>
          </a:stretch>
        </p:blipFill>
        <p:spPr>
          <a:xfrm>
            <a:off x="496713" y="911505"/>
            <a:ext cx="7647845" cy="5335981"/>
          </a:xfrm>
          <a:prstGeom prst="rect">
            <a:avLst/>
          </a:prstGeom>
        </p:spPr>
      </p:pic>
      <p:sp>
        <p:nvSpPr>
          <p:cNvPr id="27" name="Rectangle 26">
            <a:extLst>
              <a:ext uri="{FF2B5EF4-FFF2-40B4-BE49-F238E27FC236}">
                <a16:creationId xmlns:a16="http://schemas.microsoft.com/office/drawing/2014/main" id="{6FEB0F0C-9BD7-E9E1-C481-7EDDF0C33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3971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BD7F98-B9FB-B4CC-D27B-772AA0C6F35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9F84048-9155-CD68-F20F-225F371BD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A7073AC6-7353-21AD-0F57-83A293B45871}"/>
              </a:ext>
            </a:extLst>
          </p:cNvPr>
          <p:cNvSpPr>
            <a:spLocks noGrp="1"/>
          </p:cNvSpPr>
          <p:nvPr>
            <p:ph type="title"/>
          </p:nvPr>
        </p:nvSpPr>
        <p:spPr>
          <a:xfrm>
            <a:off x="9267909" y="2023110"/>
            <a:ext cx="2469624" cy="2846070"/>
          </a:xfrm>
        </p:spPr>
        <p:txBody>
          <a:bodyPr vert="horz" lIns="91440" tIns="45720" rIns="91440" bIns="45720" rtlCol="0" anchor="ctr">
            <a:normAutofit/>
          </a:bodyPr>
          <a:lstStyle/>
          <a:p>
            <a:pPr algn="l"/>
            <a:r>
              <a:rPr lang="en-US" sz="3700" kern="1200">
                <a:solidFill>
                  <a:schemeClr val="tx1"/>
                </a:solidFill>
                <a:latin typeface="+mj-lt"/>
                <a:ea typeface="+mj-ea"/>
                <a:cs typeface="+mj-cs"/>
              </a:rPr>
              <a:t>Dashboard</a:t>
            </a:r>
          </a:p>
        </p:txBody>
      </p:sp>
      <p:sp>
        <p:nvSpPr>
          <p:cNvPr id="23" name="Rectangle 22">
            <a:extLst>
              <a:ext uri="{FF2B5EF4-FFF2-40B4-BE49-F238E27FC236}">
                <a16:creationId xmlns:a16="http://schemas.microsoft.com/office/drawing/2014/main" id="{BBB18164-4BD4-A9D4-D4B7-F36D39736B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B9CB102-A416-B26F-0817-144A46C91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data dashboard&#10;&#10;AI-generated content may be incorrect.">
            <a:extLst>
              <a:ext uri="{FF2B5EF4-FFF2-40B4-BE49-F238E27FC236}">
                <a16:creationId xmlns:a16="http://schemas.microsoft.com/office/drawing/2014/main" id="{0991D5FF-D55D-8F37-2B9B-DDD2117DE1E8}"/>
              </a:ext>
            </a:extLst>
          </p:cNvPr>
          <p:cNvPicPr>
            <a:picLocks noChangeAspect="1"/>
          </p:cNvPicPr>
          <p:nvPr/>
        </p:nvPicPr>
        <p:blipFill>
          <a:blip r:embed="rId3"/>
          <a:stretch>
            <a:fillRect/>
          </a:stretch>
        </p:blipFill>
        <p:spPr>
          <a:xfrm>
            <a:off x="554222" y="850664"/>
            <a:ext cx="7590336" cy="5400155"/>
          </a:xfrm>
          <a:prstGeom prst="rect">
            <a:avLst/>
          </a:prstGeom>
        </p:spPr>
      </p:pic>
      <p:sp>
        <p:nvSpPr>
          <p:cNvPr id="27" name="Rectangle 26">
            <a:extLst>
              <a:ext uri="{FF2B5EF4-FFF2-40B4-BE49-F238E27FC236}">
                <a16:creationId xmlns:a16="http://schemas.microsoft.com/office/drawing/2014/main" id="{A4B7EA5D-66A6-442F-B1DD-5F6993D4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6075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BAC1C-D2B4-F9BB-FFE8-83CAD7D1B1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23FD614-E8ED-DBB1-07D8-A2C01B5CB773}"/>
              </a:ext>
            </a:extLst>
          </p:cNvPr>
          <p:cNvSpPr txBox="1"/>
          <p:nvPr/>
        </p:nvSpPr>
        <p:spPr>
          <a:xfrm>
            <a:off x="226033" y="148090"/>
            <a:ext cx="10258865" cy="584775"/>
          </a:xfrm>
          <a:prstGeom prst="rect">
            <a:avLst/>
          </a:prstGeom>
          <a:noFill/>
        </p:spPr>
        <p:txBody>
          <a:bodyPr wrap="square" lIns="91440" tIns="45720" rIns="91440" bIns="45720" anchor="t">
            <a:spAutoFit/>
          </a:bodyPr>
          <a:lstStyle/>
          <a:p>
            <a:r>
              <a:rPr lang="en-US" altLang="en-US" sz="3200" b="1">
                <a:latin typeface="Arial"/>
                <a:cs typeface="Arial"/>
              </a:rPr>
              <a:t>PAGE 1 – SALES PERFORMANCE OVERVIEW</a:t>
            </a:r>
            <a:endParaRPr lang="en-US" altLang="en-US" sz="3200" b="1">
              <a:latin typeface="Arial" panose="020B0604020202020204" pitchFamily="34" charset="0"/>
              <a:cs typeface="Arial" panose="020B0604020202020204" pitchFamily="34" charset="0"/>
            </a:endParaRPr>
          </a:p>
        </p:txBody>
      </p:sp>
      <p:sp>
        <p:nvSpPr>
          <p:cNvPr id="3" name="Text Placeholder 5">
            <a:extLst>
              <a:ext uri="{FF2B5EF4-FFF2-40B4-BE49-F238E27FC236}">
                <a16:creationId xmlns:a16="http://schemas.microsoft.com/office/drawing/2014/main" id="{62FC679B-5582-AFAD-2B17-95C288FAE28F}"/>
              </a:ext>
            </a:extLst>
          </p:cNvPr>
          <p:cNvSpPr>
            <a:spLocks noGrp="1"/>
          </p:cNvSpPr>
          <p:nvPr/>
        </p:nvSpPr>
        <p:spPr>
          <a:xfrm>
            <a:off x="4024312" y="3049265"/>
            <a:ext cx="4143375" cy="7594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accent4"/>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Box 10">
            <a:extLst>
              <a:ext uri="{FF2B5EF4-FFF2-40B4-BE49-F238E27FC236}">
                <a16:creationId xmlns:a16="http://schemas.microsoft.com/office/drawing/2014/main" id="{9548FA9A-E358-D637-1150-847A5819AF1A}"/>
              </a:ext>
            </a:extLst>
          </p:cNvPr>
          <p:cNvSpPr txBox="1"/>
          <p:nvPr/>
        </p:nvSpPr>
        <p:spPr>
          <a:xfrm>
            <a:off x="222075" y="742866"/>
            <a:ext cx="10771675" cy="5416868"/>
          </a:xfrm>
          <a:prstGeom prst="rect">
            <a:avLst/>
          </a:prstGeom>
          <a:noFill/>
        </p:spPr>
        <p:txBody>
          <a:bodyPr wrap="square" lIns="91440" tIns="45720" rIns="91440" bIns="45720" anchor="t">
            <a:spAutoFit/>
          </a:bodyPr>
          <a:lstStyle/>
          <a:p>
            <a:pPr>
              <a:lnSpc>
                <a:spcPct val="150000"/>
              </a:lnSpc>
              <a:buClr>
                <a:schemeClr val="accent4"/>
              </a:buClr>
            </a:pPr>
            <a:r>
              <a:rPr lang="en-US" sz="2400" b="1">
                <a:latin typeface="Arial"/>
                <a:cs typeface="Arial"/>
              </a:rPr>
              <a:t>KPIs EXPLAINED</a:t>
            </a:r>
            <a:endParaRPr lang="en-GB" sz="2000" b="1">
              <a:latin typeface="Arial"/>
              <a:cs typeface="Arial"/>
            </a:endParaRPr>
          </a:p>
          <a:p>
            <a:pPr marL="342900" indent="-342900">
              <a:lnSpc>
                <a:spcPct val="150000"/>
              </a:lnSpc>
              <a:buFont typeface="Arial"/>
              <a:buChar char="•"/>
            </a:pPr>
            <a:r>
              <a:rPr lang="en-US" sz="2000" b="1">
                <a:latin typeface="Arial"/>
                <a:ea typeface="Calibri Light"/>
                <a:cs typeface="Arial"/>
              </a:rPr>
              <a:t>Total Revenue - $817,860.05</a:t>
            </a:r>
          </a:p>
          <a:p>
            <a:pPr>
              <a:lnSpc>
                <a:spcPct val="150000"/>
              </a:lnSpc>
            </a:pPr>
            <a:r>
              <a:rPr lang="en-US" sz="2000">
                <a:latin typeface="Arial"/>
                <a:ea typeface="Calibri Light"/>
                <a:cs typeface="Arial"/>
              </a:rPr>
              <a:t>This represents the total income generated from all pizza sales in 2015.</a:t>
            </a:r>
          </a:p>
          <a:p>
            <a:pPr marL="342900" indent="-342900">
              <a:lnSpc>
                <a:spcPct val="150000"/>
              </a:lnSpc>
              <a:buFont typeface="Arial"/>
              <a:buChar char="•"/>
            </a:pPr>
            <a:r>
              <a:rPr lang="en-US" sz="2000" b="1">
                <a:latin typeface="Arial"/>
                <a:ea typeface="Calibri Light"/>
                <a:cs typeface="Arial"/>
              </a:rPr>
              <a:t>Total Quantity Sold – 49,574</a:t>
            </a:r>
          </a:p>
          <a:p>
            <a:pPr>
              <a:lnSpc>
                <a:spcPct val="150000"/>
              </a:lnSpc>
            </a:pPr>
            <a:r>
              <a:rPr lang="en-US" sz="2000">
                <a:latin typeface="Arial"/>
                <a:ea typeface="Calibri Light"/>
                <a:cs typeface="Arial"/>
              </a:rPr>
              <a:t>Across all orders, 49,574 individual pizzas were sold.</a:t>
            </a:r>
          </a:p>
          <a:p>
            <a:pPr marL="342900" indent="-342900">
              <a:lnSpc>
                <a:spcPct val="150000"/>
              </a:lnSpc>
              <a:buFont typeface="Arial"/>
              <a:buChar char="•"/>
            </a:pPr>
            <a:r>
              <a:rPr lang="en-US" sz="2000" b="1">
                <a:latin typeface="Arial"/>
                <a:ea typeface="Calibri Light"/>
                <a:cs typeface="Arial"/>
              </a:rPr>
              <a:t>Total Orders – 21,350</a:t>
            </a:r>
          </a:p>
          <a:p>
            <a:pPr>
              <a:lnSpc>
                <a:spcPct val="150000"/>
              </a:lnSpc>
            </a:pPr>
            <a:r>
              <a:rPr lang="en-US" sz="2000">
                <a:latin typeface="Arial"/>
                <a:ea typeface="Calibri Light"/>
                <a:cs typeface="Arial"/>
              </a:rPr>
              <a:t>A total of 21,350 customer orders were recorded throughout the year.</a:t>
            </a:r>
          </a:p>
          <a:p>
            <a:pPr marL="342900" indent="-342900">
              <a:lnSpc>
                <a:spcPct val="150000"/>
              </a:lnSpc>
              <a:buFont typeface="Arial"/>
              <a:buChar char="•"/>
            </a:pPr>
            <a:r>
              <a:rPr lang="en-US" sz="2000" b="1">
                <a:latin typeface="Arial"/>
                <a:cs typeface="Arial"/>
              </a:rPr>
              <a:t>Average Daily Revenue — $2,284.53</a:t>
            </a:r>
            <a:endParaRPr lang="en-US" sz="2000">
              <a:latin typeface="Arial"/>
              <a:ea typeface="Calibri Light"/>
              <a:cs typeface="Arial"/>
            </a:endParaRPr>
          </a:p>
          <a:p>
            <a:r>
              <a:rPr lang="en-US" sz="2000">
                <a:latin typeface="Arial"/>
                <a:ea typeface="+mn-lt"/>
                <a:cs typeface="+mn-lt"/>
              </a:rPr>
              <a:t>On average, the store generated $2,284.53 in revenue per day.</a:t>
            </a:r>
            <a:br>
              <a:rPr lang="en-US" sz="2000">
                <a:ea typeface="+mn-lt"/>
                <a:cs typeface="+mn-lt"/>
              </a:rPr>
            </a:br>
            <a:r>
              <a:rPr lang="en-US" sz="2000">
                <a:ea typeface="+mn-lt"/>
                <a:cs typeface="+mn-lt"/>
              </a:rPr>
              <a:t> </a:t>
            </a:r>
            <a:endParaRPr lang="en-US">
              <a:ea typeface="Calibri Light"/>
              <a:cs typeface="Calibri Light"/>
            </a:endParaRPr>
          </a:p>
          <a:p>
            <a:pPr>
              <a:buFont typeface="Arial"/>
              <a:buChar char="•"/>
            </a:pPr>
            <a:r>
              <a:rPr lang="en-US" sz="2000" b="1">
                <a:latin typeface="Arial"/>
                <a:cs typeface="Arial"/>
              </a:rPr>
              <a:t>Average Daily Orders — 59.64</a:t>
            </a:r>
            <a:endParaRPr lang="en-US" sz="2000">
              <a:latin typeface="Arial"/>
              <a:cs typeface="Arial"/>
            </a:endParaRPr>
          </a:p>
          <a:p>
            <a:r>
              <a:rPr lang="en-US" sz="2000">
                <a:latin typeface="Arial"/>
                <a:ea typeface="+mn-lt"/>
                <a:cs typeface="+mn-lt"/>
              </a:rPr>
              <a:t>The store fulfilled an average of 59.64 orders per day.</a:t>
            </a:r>
            <a:br>
              <a:rPr lang="en-US" sz="2000">
                <a:latin typeface="Arial"/>
                <a:ea typeface="+mn-lt"/>
                <a:cs typeface="+mn-lt"/>
              </a:rPr>
            </a:br>
            <a:r>
              <a:rPr lang="en-US" sz="2000">
                <a:latin typeface="Arial"/>
                <a:ea typeface="+mn-lt"/>
                <a:cs typeface="+mn-lt"/>
              </a:rPr>
              <a:t> </a:t>
            </a:r>
            <a:endParaRPr lang="en-US">
              <a:latin typeface="Arial"/>
              <a:ea typeface="Calibri Light"/>
              <a:cs typeface="Calibri Light"/>
            </a:endParaRPr>
          </a:p>
        </p:txBody>
      </p:sp>
    </p:spTree>
    <p:extLst>
      <p:ext uri="{BB962C8B-B14F-4D97-AF65-F5344CB8AC3E}">
        <p14:creationId xmlns:p14="http://schemas.microsoft.com/office/powerpoint/2010/main" val="2792207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F065-4B89-3D45-BEA9-E49A9BEC5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944C0-446A-0F1B-DE52-6B9B1BB721AA}"/>
              </a:ext>
            </a:extLst>
          </p:cNvPr>
          <p:cNvSpPr>
            <a:spLocks noGrp="1"/>
          </p:cNvSpPr>
          <p:nvPr>
            <p:ph type="title"/>
          </p:nvPr>
        </p:nvSpPr>
        <p:spPr>
          <a:xfrm>
            <a:off x="838200" y="184833"/>
            <a:ext cx="10515600" cy="700115"/>
          </a:xfrm>
        </p:spPr>
        <p:txBody>
          <a:bodyPr lIns="91440" tIns="45720" rIns="91440" bIns="45720" anchor="ctr"/>
          <a:lstStyle/>
          <a:p>
            <a:pPr algn="l"/>
            <a:r>
              <a:rPr lang="en-US"/>
              <a:t>Key Insights</a:t>
            </a:r>
          </a:p>
        </p:txBody>
      </p:sp>
      <p:sp>
        <p:nvSpPr>
          <p:cNvPr id="3" name="Content Placeholder 2">
            <a:extLst>
              <a:ext uri="{FF2B5EF4-FFF2-40B4-BE49-F238E27FC236}">
                <a16:creationId xmlns:a16="http://schemas.microsoft.com/office/drawing/2014/main" id="{902CCB04-5564-77AB-D1D3-3B6339BD7725}"/>
              </a:ext>
            </a:extLst>
          </p:cNvPr>
          <p:cNvSpPr>
            <a:spLocks noGrp="1"/>
          </p:cNvSpPr>
          <p:nvPr>
            <p:ph sz="quarter" idx="10"/>
          </p:nvPr>
        </p:nvSpPr>
        <p:spPr>
          <a:xfrm>
            <a:off x="556845" y="913171"/>
            <a:ext cx="10515600" cy="5484754"/>
          </a:xfrm>
        </p:spPr>
        <p:txBody>
          <a:bodyPr lIns="91440" tIns="45720" rIns="91440" bIns="45720" anchor="t"/>
          <a:lstStyle/>
          <a:p>
            <a:pPr>
              <a:lnSpc>
                <a:spcPct val="100000"/>
              </a:lnSpc>
              <a:buClr>
                <a:srgbClr val="FF0000"/>
              </a:buClr>
              <a:buFont typeface="Arial" panose="05000000000000000000" pitchFamily="2" charset="2"/>
              <a:buChar char="•"/>
            </a:pPr>
            <a:endParaRPr lang="en-US" sz="2000" b="1">
              <a:solidFill>
                <a:schemeClr val="tx1"/>
              </a:solidFill>
              <a:ea typeface="+mn-lt"/>
              <a:cs typeface="+mn-lt"/>
            </a:endParaRPr>
          </a:p>
          <a:p>
            <a:pPr>
              <a:lnSpc>
                <a:spcPct val="100000"/>
              </a:lnSpc>
              <a:buClr>
                <a:srgbClr val="FF0000"/>
              </a:buClr>
              <a:buFont typeface="Arial" panose="05000000000000000000" pitchFamily="2" charset="2"/>
              <a:buChar char="•"/>
            </a:pPr>
            <a:r>
              <a:rPr lang="en-US" sz="2000" b="1">
                <a:solidFill>
                  <a:schemeClr val="tx1"/>
                </a:solidFill>
                <a:ea typeface="+mn-lt"/>
                <a:cs typeface="+mn-lt"/>
              </a:rPr>
              <a:t>C</a:t>
            </a:r>
            <a:r>
              <a:rPr lang="en-US" sz="2000">
                <a:solidFill>
                  <a:schemeClr val="tx1"/>
                </a:solidFill>
                <a:latin typeface="Arial"/>
                <a:ea typeface="+mn-lt"/>
                <a:cs typeface="+mn-lt"/>
              </a:rPr>
              <a:t>lassic and Supreme pizzas contribute the highest revenue among all categories. Veggie pizzas have the lowest revenue contribution, indicating potential for menu improvement or marketing push.</a:t>
            </a:r>
            <a:endParaRPr lang="en-US">
              <a:solidFill>
                <a:schemeClr val="tx1"/>
              </a:solidFill>
              <a:latin typeface="Arial"/>
              <a:ea typeface="Calibri Ligh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mn-lt"/>
                <a:cs typeface="+mn-lt"/>
              </a:rPr>
              <a:t>Revenue peaks in </a:t>
            </a:r>
            <a:r>
              <a:rPr lang="en-US" sz="2000" b="1">
                <a:solidFill>
                  <a:schemeClr val="tx1"/>
                </a:solidFill>
                <a:latin typeface="Arial"/>
                <a:ea typeface="+mn-lt"/>
                <a:cs typeface="+mn-lt"/>
              </a:rPr>
              <a:t>March, July, and November</a:t>
            </a:r>
            <a:r>
              <a:rPr lang="en-US" sz="2000">
                <a:solidFill>
                  <a:schemeClr val="tx1"/>
                </a:solidFill>
                <a:latin typeface="Arial"/>
                <a:ea typeface="+mn-lt"/>
                <a:cs typeface="+mn-lt"/>
              </a:rPr>
              <a:t>, showing strong seasonal demand. Noticeable dips occur in </a:t>
            </a:r>
            <a:r>
              <a:rPr lang="en-US" sz="2000" b="1">
                <a:solidFill>
                  <a:schemeClr val="tx1"/>
                </a:solidFill>
                <a:latin typeface="Arial"/>
                <a:ea typeface="+mn-lt"/>
                <a:cs typeface="+mn-lt"/>
              </a:rPr>
              <a:t>February, September, and December</a:t>
            </a:r>
            <a:r>
              <a:rPr lang="en-US" sz="2000">
                <a:solidFill>
                  <a:schemeClr val="tx1"/>
                </a:solidFill>
                <a:latin typeface="Arial"/>
                <a:ea typeface="+mn-lt"/>
                <a:cs typeface="+mn-lt"/>
              </a:rPr>
              <a:t>  suggesting these months may need targeted promotions.</a:t>
            </a:r>
            <a:endParaRPr lang="en-US">
              <a:solidFill>
                <a:schemeClr val="tx1"/>
              </a:solidFill>
              <a:latin typeface="Arial"/>
              <a:ea typeface="Calibri Ligh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The Classic Deluxe, Barbecue Chicken, Hawaiian, Pepperoni and the Thai Chicken Pizzas are the most ordered pizzas.</a:t>
            </a: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mn-lt"/>
                <a:cs typeface="Arial"/>
              </a:rPr>
              <a:t>The Brie Carre Pizza is the least ordered pizza. These least ordered pizzas may need price adjustment or total removal from the menu to reduce losses.</a:t>
            </a:r>
          </a:p>
          <a:p>
            <a:pPr>
              <a:lnSpc>
                <a:spcPct val="100000"/>
              </a:lnSpc>
              <a:buClr>
                <a:srgbClr val="FF0000"/>
              </a:buClr>
              <a:buFont typeface="Arial" panose="05000000000000000000" pitchFamily="2" charset="2"/>
              <a:buChar char="•"/>
            </a:pPr>
            <a:r>
              <a:rPr lang="en-US" sz="2000" b="1">
                <a:solidFill>
                  <a:schemeClr val="tx1"/>
                </a:solidFill>
                <a:latin typeface="Arial"/>
                <a:ea typeface="+mn-lt"/>
                <a:cs typeface="Arial"/>
              </a:rPr>
              <a:t>Large-sized pizzas</a:t>
            </a:r>
            <a:r>
              <a:rPr lang="en-US" sz="2000">
                <a:solidFill>
                  <a:schemeClr val="tx1"/>
                </a:solidFill>
                <a:latin typeface="Arial"/>
                <a:ea typeface="+mn-lt"/>
                <a:cs typeface="Arial"/>
              </a:rPr>
              <a:t> generate the highest revenue, followed by </a:t>
            </a:r>
            <a:r>
              <a:rPr lang="en-US" sz="2000" b="1">
                <a:solidFill>
                  <a:schemeClr val="tx1"/>
                </a:solidFill>
                <a:latin typeface="Arial"/>
                <a:ea typeface="+mn-lt"/>
                <a:cs typeface="Arial"/>
              </a:rPr>
              <a:t>Medium</a:t>
            </a:r>
            <a:r>
              <a:rPr lang="en-US" sz="2000">
                <a:solidFill>
                  <a:schemeClr val="tx1"/>
                </a:solidFill>
                <a:latin typeface="Arial"/>
                <a:ea typeface="+mn-lt"/>
                <a:cs typeface="Arial"/>
              </a:rPr>
              <a:t> then by </a:t>
            </a:r>
            <a:r>
              <a:rPr lang="en-US" sz="2000" b="1">
                <a:solidFill>
                  <a:schemeClr val="tx1"/>
                </a:solidFill>
                <a:latin typeface="Arial"/>
                <a:ea typeface="+mn-lt"/>
                <a:cs typeface="Arial"/>
              </a:rPr>
              <a:t>Small size.</a:t>
            </a:r>
            <a:r>
              <a:rPr lang="en-US" sz="2000">
                <a:solidFill>
                  <a:schemeClr val="tx1"/>
                </a:solidFill>
                <a:latin typeface="Arial"/>
                <a:ea typeface="+mn-lt"/>
                <a:cs typeface="Arial"/>
              </a:rPr>
              <a:t> </a:t>
            </a:r>
            <a:r>
              <a:rPr lang="en-US" sz="2000" b="1">
                <a:solidFill>
                  <a:schemeClr val="tx1"/>
                </a:solidFill>
                <a:latin typeface="Arial"/>
                <a:ea typeface="+mn-lt"/>
                <a:cs typeface="Arial"/>
              </a:rPr>
              <a:t>XL and XXL sizes</a:t>
            </a:r>
            <a:r>
              <a:rPr lang="en-US" sz="2000">
                <a:solidFill>
                  <a:schemeClr val="tx1"/>
                </a:solidFill>
                <a:latin typeface="Arial"/>
                <a:ea typeface="+mn-lt"/>
                <a:cs typeface="Arial"/>
              </a:rPr>
              <a:t> contribute significantly less, suggesting limited customer demand for the extremes.</a:t>
            </a:r>
          </a:p>
          <a:p>
            <a:pPr>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a:p>
            <a:pPr>
              <a:lnSpc>
                <a:spcPct val="150000"/>
              </a:lnSpc>
              <a:buClr>
                <a:srgbClr val="FF0000"/>
              </a:buClr>
              <a:buFont typeface="Wingdings" panose="05000000000000000000" pitchFamily="2" charset="2"/>
              <a:buChar char="§"/>
            </a:pPr>
            <a:endParaRPr lang="en-US" sz="2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852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E400-8CCC-90B3-36BB-FED4AF1237D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DAD2B3-0C56-7009-2B16-AEF054BB5020}"/>
              </a:ext>
            </a:extLst>
          </p:cNvPr>
          <p:cNvSpPr txBox="1"/>
          <p:nvPr/>
        </p:nvSpPr>
        <p:spPr>
          <a:xfrm>
            <a:off x="226033" y="148090"/>
            <a:ext cx="10258865" cy="584775"/>
          </a:xfrm>
          <a:prstGeom prst="rect">
            <a:avLst/>
          </a:prstGeom>
          <a:noFill/>
        </p:spPr>
        <p:txBody>
          <a:bodyPr wrap="square" lIns="91440" tIns="45720" rIns="91440" bIns="45720" anchor="t">
            <a:spAutoFit/>
          </a:bodyPr>
          <a:lstStyle/>
          <a:p>
            <a:r>
              <a:rPr lang="en-US" altLang="en-US" sz="3200" b="1">
                <a:latin typeface="Arial"/>
                <a:cs typeface="Arial"/>
              </a:rPr>
              <a:t>PAGE 2 –CUSTOMER &amp; ORDER BEHAVIOUR</a:t>
            </a:r>
            <a:endParaRPr lang="en-US" altLang="en-US" sz="3200" b="1">
              <a:latin typeface="Arial" panose="020B0604020202020204" pitchFamily="34" charset="0"/>
              <a:cs typeface="Arial" panose="020B0604020202020204" pitchFamily="34" charset="0"/>
            </a:endParaRPr>
          </a:p>
        </p:txBody>
      </p:sp>
      <p:sp>
        <p:nvSpPr>
          <p:cNvPr id="3" name="Text Placeholder 5">
            <a:extLst>
              <a:ext uri="{FF2B5EF4-FFF2-40B4-BE49-F238E27FC236}">
                <a16:creationId xmlns:a16="http://schemas.microsoft.com/office/drawing/2014/main" id="{FB6B29FC-F9F6-8D5F-599D-B772B5AAC35F}"/>
              </a:ext>
            </a:extLst>
          </p:cNvPr>
          <p:cNvSpPr>
            <a:spLocks noGrp="1"/>
          </p:cNvSpPr>
          <p:nvPr/>
        </p:nvSpPr>
        <p:spPr>
          <a:xfrm>
            <a:off x="4024312" y="3049265"/>
            <a:ext cx="4143375" cy="7594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accent4"/>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Box 10">
            <a:extLst>
              <a:ext uri="{FF2B5EF4-FFF2-40B4-BE49-F238E27FC236}">
                <a16:creationId xmlns:a16="http://schemas.microsoft.com/office/drawing/2014/main" id="{61A215F0-DB67-77CD-D807-23BAC0B8C94E}"/>
              </a:ext>
            </a:extLst>
          </p:cNvPr>
          <p:cNvSpPr txBox="1"/>
          <p:nvPr/>
        </p:nvSpPr>
        <p:spPr>
          <a:xfrm>
            <a:off x="222075" y="742866"/>
            <a:ext cx="10771675" cy="5878532"/>
          </a:xfrm>
          <a:prstGeom prst="rect">
            <a:avLst/>
          </a:prstGeom>
          <a:noFill/>
        </p:spPr>
        <p:txBody>
          <a:bodyPr wrap="square" lIns="91440" tIns="45720" rIns="91440" bIns="45720" anchor="t">
            <a:spAutoFit/>
          </a:bodyPr>
          <a:lstStyle/>
          <a:p>
            <a:pPr>
              <a:lnSpc>
                <a:spcPct val="150000"/>
              </a:lnSpc>
              <a:buClr>
                <a:schemeClr val="accent4"/>
              </a:buClr>
            </a:pPr>
            <a:r>
              <a:rPr lang="en-US" sz="2400" b="1">
                <a:latin typeface="Arial"/>
                <a:cs typeface="Arial"/>
              </a:rPr>
              <a:t>KPIs EXPLAINED</a:t>
            </a:r>
            <a:endParaRPr lang="en-GB" sz="2000" b="1">
              <a:latin typeface="Arial"/>
              <a:cs typeface="Arial"/>
            </a:endParaRPr>
          </a:p>
          <a:p>
            <a:pPr marL="342900" indent="-342900">
              <a:lnSpc>
                <a:spcPct val="150000"/>
              </a:lnSpc>
              <a:buFont typeface="Arial"/>
              <a:buChar char="•"/>
            </a:pPr>
            <a:r>
              <a:rPr lang="en-US" sz="2000" b="1">
                <a:latin typeface="Arial"/>
                <a:ea typeface="Calibri Light"/>
                <a:cs typeface="Arial"/>
              </a:rPr>
              <a:t>Pizza Per Order - 2.32</a:t>
            </a:r>
          </a:p>
          <a:p>
            <a:pPr>
              <a:lnSpc>
                <a:spcPct val="150000"/>
              </a:lnSpc>
            </a:pPr>
            <a:r>
              <a:rPr lang="en-US" sz="2000">
                <a:latin typeface="Arial"/>
                <a:ea typeface="Calibri Light"/>
                <a:cs typeface="Arial"/>
              </a:rPr>
              <a:t>On average, customers purchase about </a:t>
            </a:r>
            <a:r>
              <a:rPr lang="en-US" sz="2000" b="1">
                <a:latin typeface="Arial"/>
                <a:ea typeface="Calibri Light"/>
                <a:cs typeface="Arial"/>
              </a:rPr>
              <a:t>2 pizzas per transaction.</a:t>
            </a:r>
          </a:p>
          <a:p>
            <a:pPr marL="342900" indent="-342900">
              <a:lnSpc>
                <a:spcPct val="150000"/>
              </a:lnSpc>
              <a:buFont typeface="Arial"/>
              <a:buChar char="•"/>
            </a:pPr>
            <a:r>
              <a:rPr lang="en-US" sz="2000" b="1">
                <a:latin typeface="Arial"/>
                <a:ea typeface="Calibri Light"/>
                <a:cs typeface="Arial"/>
              </a:rPr>
              <a:t>Multi-Pizza Orders (%) - 62%</a:t>
            </a:r>
          </a:p>
          <a:p>
            <a:pPr>
              <a:lnSpc>
                <a:spcPct val="150000"/>
              </a:lnSpc>
            </a:pPr>
            <a:r>
              <a:rPr lang="en-US" sz="2000">
                <a:latin typeface="Arial"/>
                <a:ea typeface="Calibri Light"/>
                <a:cs typeface="Arial"/>
              </a:rPr>
              <a:t>62% of Customers order </a:t>
            </a:r>
            <a:r>
              <a:rPr lang="en-US" sz="2000" b="1">
                <a:latin typeface="Arial"/>
                <a:ea typeface="Calibri Light"/>
                <a:cs typeface="Arial"/>
              </a:rPr>
              <a:t>more than one pizza.</a:t>
            </a:r>
          </a:p>
          <a:p>
            <a:pPr marL="342900" indent="-342900">
              <a:lnSpc>
                <a:spcPct val="150000"/>
              </a:lnSpc>
              <a:buFont typeface="Arial"/>
              <a:buChar char="•"/>
            </a:pPr>
            <a:r>
              <a:rPr lang="en-US" sz="2000" b="1">
                <a:latin typeface="Arial"/>
                <a:ea typeface="Calibri Light"/>
                <a:cs typeface="Arial"/>
              </a:rPr>
              <a:t>Average Unit Price - $16.49</a:t>
            </a:r>
          </a:p>
          <a:p>
            <a:pPr>
              <a:lnSpc>
                <a:spcPct val="150000"/>
              </a:lnSpc>
            </a:pPr>
            <a:r>
              <a:rPr lang="en-US" sz="2000">
                <a:latin typeface="Arial"/>
                <a:ea typeface="Calibri Light"/>
                <a:cs typeface="Arial"/>
              </a:rPr>
              <a:t>This represents the </a:t>
            </a:r>
            <a:r>
              <a:rPr lang="en-US" sz="2000" b="1">
                <a:latin typeface="Arial"/>
                <a:ea typeface="Calibri Light"/>
                <a:cs typeface="Arial"/>
              </a:rPr>
              <a:t>average selling price per pizza unit</a:t>
            </a:r>
            <a:r>
              <a:rPr lang="en-US" sz="2000">
                <a:latin typeface="Arial"/>
                <a:ea typeface="Calibri Light"/>
                <a:cs typeface="Arial"/>
              </a:rPr>
              <a:t>, indicating the general pricing level of the pizza menu.</a:t>
            </a:r>
          </a:p>
          <a:p>
            <a:pPr marL="342900" indent="-342900">
              <a:lnSpc>
                <a:spcPct val="150000"/>
              </a:lnSpc>
              <a:buFont typeface="Arial"/>
              <a:buChar char="•"/>
            </a:pPr>
            <a:r>
              <a:rPr lang="en-US" sz="2000" b="1">
                <a:latin typeface="Arial"/>
                <a:ea typeface="Calibri Light"/>
                <a:cs typeface="Arial"/>
              </a:rPr>
              <a:t>Average Order Value (AOV) - $38.31</a:t>
            </a:r>
            <a:endParaRPr lang="en-US" sz="2000">
              <a:latin typeface="Arial"/>
              <a:ea typeface="Calibri Light"/>
              <a:cs typeface="Arial"/>
            </a:endParaRPr>
          </a:p>
          <a:p>
            <a:r>
              <a:rPr lang="en-US" sz="2000">
                <a:latin typeface="Arial"/>
                <a:ea typeface="Calibri Light"/>
                <a:cs typeface="Calibri Light"/>
              </a:rPr>
              <a:t>Customers spend approximately </a:t>
            </a:r>
            <a:r>
              <a:rPr lang="en-US" sz="2000" b="1">
                <a:latin typeface="Arial"/>
                <a:ea typeface="Calibri Light"/>
                <a:cs typeface="Calibri Light"/>
              </a:rPr>
              <a:t>$38 per order on average</a:t>
            </a:r>
            <a:r>
              <a:rPr lang="en-US" sz="2000">
                <a:latin typeface="Arial"/>
                <a:ea typeface="Calibri Light"/>
                <a:cs typeface="Calibri Light"/>
              </a:rPr>
              <a:t>.</a:t>
            </a:r>
            <a:br>
              <a:rPr lang="en-US" sz="2000">
                <a:ea typeface="+mn-lt"/>
                <a:cs typeface="+mn-lt"/>
              </a:rPr>
            </a:br>
            <a:r>
              <a:rPr lang="en-US" sz="2000">
                <a:latin typeface="Calibri Light"/>
                <a:ea typeface="Calibri Light"/>
                <a:cs typeface="Calibri Light"/>
              </a:rPr>
              <a:t> </a:t>
            </a:r>
            <a:endParaRPr lang="en-US">
              <a:latin typeface="Calibri Light"/>
              <a:ea typeface="Calibri Light"/>
              <a:cs typeface="Calibri Light"/>
            </a:endParaRPr>
          </a:p>
          <a:p>
            <a:pPr>
              <a:buFont typeface="Arial"/>
              <a:buChar char="•"/>
            </a:pPr>
            <a:r>
              <a:rPr lang="en-US" sz="2000" b="1">
                <a:latin typeface="Arial"/>
                <a:cs typeface="Arial"/>
              </a:rPr>
              <a:t>Average Daily Orders — 59.64</a:t>
            </a:r>
            <a:endParaRPr lang="en-US" sz="2000">
              <a:latin typeface="Arial"/>
              <a:cs typeface="Arial"/>
            </a:endParaRPr>
          </a:p>
          <a:p>
            <a:r>
              <a:rPr lang="en-US" sz="2000">
                <a:latin typeface="Arial"/>
                <a:ea typeface="+mn-lt"/>
                <a:cs typeface="+mn-lt"/>
              </a:rPr>
              <a:t>The store fulfilled an average of 59.64 orders per day.</a:t>
            </a:r>
            <a:br>
              <a:rPr lang="en-US" sz="2000">
                <a:latin typeface="Arial"/>
                <a:ea typeface="+mn-lt"/>
                <a:cs typeface="+mn-lt"/>
              </a:rPr>
            </a:br>
            <a:r>
              <a:rPr lang="en-US" sz="2000">
                <a:latin typeface="Arial"/>
                <a:ea typeface="+mn-lt"/>
                <a:cs typeface="+mn-lt"/>
              </a:rPr>
              <a:t> </a:t>
            </a:r>
            <a:endParaRPr lang="en-US">
              <a:latin typeface="Arial"/>
              <a:ea typeface="Calibri Light"/>
              <a:cs typeface="Calibri Light"/>
            </a:endParaRPr>
          </a:p>
        </p:txBody>
      </p:sp>
    </p:spTree>
    <p:extLst>
      <p:ext uri="{BB962C8B-B14F-4D97-AF65-F5344CB8AC3E}">
        <p14:creationId xmlns:p14="http://schemas.microsoft.com/office/powerpoint/2010/main" val="1851262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A1958-6E35-07A1-ADE4-A4CD54310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7ECFA-ABD1-5575-902F-F35BCAFD7490}"/>
              </a:ext>
            </a:extLst>
          </p:cNvPr>
          <p:cNvSpPr>
            <a:spLocks noGrp="1"/>
          </p:cNvSpPr>
          <p:nvPr>
            <p:ph type="title"/>
          </p:nvPr>
        </p:nvSpPr>
        <p:spPr>
          <a:xfrm>
            <a:off x="838200" y="184833"/>
            <a:ext cx="10515600" cy="700115"/>
          </a:xfrm>
        </p:spPr>
        <p:txBody>
          <a:bodyPr lIns="91440" tIns="45720" rIns="91440" bIns="45720" anchor="ctr"/>
          <a:lstStyle/>
          <a:p>
            <a:pPr algn="l"/>
            <a:r>
              <a:rPr lang="en-US"/>
              <a:t>Key Insights</a:t>
            </a:r>
          </a:p>
        </p:txBody>
      </p:sp>
      <p:sp>
        <p:nvSpPr>
          <p:cNvPr id="3" name="Content Placeholder 2">
            <a:extLst>
              <a:ext uri="{FF2B5EF4-FFF2-40B4-BE49-F238E27FC236}">
                <a16:creationId xmlns:a16="http://schemas.microsoft.com/office/drawing/2014/main" id="{3D521F6D-66DB-94AB-A718-A7D805846A84}"/>
              </a:ext>
            </a:extLst>
          </p:cNvPr>
          <p:cNvSpPr>
            <a:spLocks noGrp="1"/>
          </p:cNvSpPr>
          <p:nvPr>
            <p:ph sz="quarter" idx="10"/>
          </p:nvPr>
        </p:nvSpPr>
        <p:spPr>
          <a:xfrm>
            <a:off x="556845" y="913171"/>
            <a:ext cx="10515600" cy="5484754"/>
          </a:xfrm>
        </p:spPr>
        <p:txBody>
          <a:bodyPr lIns="91440" tIns="45720" rIns="91440" bIns="45720" anchor="t"/>
          <a:lstStyle/>
          <a:p>
            <a:pPr>
              <a:lnSpc>
                <a:spcPct val="100000"/>
              </a:lnSpc>
              <a:buClr>
                <a:srgbClr val="FF0000"/>
              </a:buClr>
              <a:buFont typeface="Arial" panose="05000000000000000000" pitchFamily="2" charset="2"/>
              <a:buChar char="•"/>
            </a:pPr>
            <a:endParaRPr lang="en-US" sz="2000" b="1">
              <a:solidFill>
                <a:schemeClr val="tx1"/>
              </a:solidFill>
              <a:ea typeface="+mn-lt"/>
              <a:cs typeface="+mn-lt"/>
            </a:endParaRPr>
          </a:p>
          <a:p>
            <a:pPr>
              <a:lnSpc>
                <a:spcPct val="100000"/>
              </a:lnSpc>
              <a:buClr>
                <a:srgbClr val="FF0000"/>
              </a:buClr>
              <a:buFont typeface="Arial" panose="05000000000000000000" pitchFamily="2" charset="2"/>
              <a:buChar char="•"/>
            </a:pPr>
            <a:r>
              <a:rPr lang="en-US" sz="2000">
                <a:solidFill>
                  <a:schemeClr val="tx1"/>
                </a:solidFill>
                <a:latin typeface="Arial"/>
                <a:ea typeface="+mn-lt"/>
                <a:cs typeface="+mn-lt"/>
              </a:rPr>
              <a:t>Peak Ordering Hours occurs between 12pm and 1pm in the afternoon likely due to lunch orders and also between 5pm and &amp;pm due to dinner orders.</a:t>
            </a:r>
            <a:endParaRPr lang="en-US" sz="2000">
              <a:solidFill>
                <a:schemeClr val="tx1"/>
              </a:solidFill>
              <a:latin typeface="Arial"/>
              <a:ea typeface="+mn-l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Friday and Saturday show the highest order volumes, indicating strong weekend demands.</a:t>
            </a: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The highest AOV appears around February and September indicating higher-value customer spending. The lowest AOV occurs around January and August.</a:t>
            </a: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Large pizzas make up the biggest share across most categories. XL and XXL pizzas appear in very small proportions, indicating they are rarely ordered across all categories</a:t>
            </a:r>
            <a:endParaRPr lang="en-US" sz="2000">
              <a:solidFill>
                <a:schemeClr val="tx1"/>
              </a:solidFill>
              <a:latin typeface="Arial" panose="020B0604020202020204" pitchFamily="34" charset="0"/>
              <a:ea typeface="Calibri Light"/>
              <a:cs typeface="Calibri Light"/>
            </a:endParaRPr>
          </a:p>
          <a:p>
            <a:pPr>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a:p>
            <a:pPr>
              <a:lnSpc>
                <a:spcPct val="150000"/>
              </a:lnSpc>
              <a:buClr>
                <a:srgbClr val="FF0000"/>
              </a:buClr>
              <a:buFont typeface="Wingdings" panose="05000000000000000000" pitchFamily="2" charset="2"/>
              <a:buChar char="§"/>
            </a:pPr>
            <a:endParaRPr lang="en-US" sz="2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9530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63540-DEDC-C680-FEDF-1374D2546C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657AA72-A119-E185-B81E-64666C4554CF}"/>
              </a:ext>
            </a:extLst>
          </p:cNvPr>
          <p:cNvSpPr txBox="1"/>
          <p:nvPr/>
        </p:nvSpPr>
        <p:spPr>
          <a:xfrm>
            <a:off x="226033" y="148090"/>
            <a:ext cx="10258865" cy="584775"/>
          </a:xfrm>
          <a:prstGeom prst="rect">
            <a:avLst/>
          </a:prstGeom>
          <a:noFill/>
        </p:spPr>
        <p:txBody>
          <a:bodyPr wrap="square" lIns="91440" tIns="45720" rIns="91440" bIns="45720" anchor="t">
            <a:spAutoFit/>
          </a:bodyPr>
          <a:lstStyle/>
          <a:p>
            <a:r>
              <a:rPr lang="en-US" altLang="en-US" sz="3200" b="1">
                <a:latin typeface="Arial"/>
                <a:cs typeface="Arial"/>
              </a:rPr>
              <a:t>PAGE 3 –SINGLE VS MULTI ORDER BEHAVIOUR</a:t>
            </a:r>
            <a:endParaRPr lang="en-US" altLang="en-US" sz="3200" b="1">
              <a:latin typeface="Arial" panose="020B0604020202020204" pitchFamily="34" charset="0"/>
              <a:cs typeface="Arial" panose="020B0604020202020204" pitchFamily="34" charset="0"/>
            </a:endParaRPr>
          </a:p>
        </p:txBody>
      </p:sp>
      <p:sp>
        <p:nvSpPr>
          <p:cNvPr id="3" name="Text Placeholder 5">
            <a:extLst>
              <a:ext uri="{FF2B5EF4-FFF2-40B4-BE49-F238E27FC236}">
                <a16:creationId xmlns:a16="http://schemas.microsoft.com/office/drawing/2014/main" id="{476871B2-6CFA-F5C7-4AA5-C8B89CA902BC}"/>
              </a:ext>
            </a:extLst>
          </p:cNvPr>
          <p:cNvSpPr>
            <a:spLocks noGrp="1"/>
          </p:cNvSpPr>
          <p:nvPr/>
        </p:nvSpPr>
        <p:spPr>
          <a:xfrm>
            <a:off x="4024312" y="3049265"/>
            <a:ext cx="4143375" cy="75947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accent4"/>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1" name="TextBox 10">
            <a:extLst>
              <a:ext uri="{FF2B5EF4-FFF2-40B4-BE49-F238E27FC236}">
                <a16:creationId xmlns:a16="http://schemas.microsoft.com/office/drawing/2014/main" id="{5F2CCC6F-2241-A14B-3462-F0D98E9BC8B5}"/>
              </a:ext>
            </a:extLst>
          </p:cNvPr>
          <p:cNvSpPr txBox="1"/>
          <p:nvPr/>
        </p:nvSpPr>
        <p:spPr>
          <a:xfrm>
            <a:off x="222075" y="742866"/>
            <a:ext cx="10771675" cy="3359318"/>
          </a:xfrm>
          <a:prstGeom prst="rect">
            <a:avLst/>
          </a:prstGeom>
          <a:noFill/>
        </p:spPr>
        <p:txBody>
          <a:bodyPr wrap="square" lIns="91440" tIns="45720" rIns="91440" bIns="45720" anchor="t">
            <a:spAutoFit/>
          </a:bodyPr>
          <a:lstStyle/>
          <a:p>
            <a:pPr>
              <a:lnSpc>
                <a:spcPct val="150000"/>
              </a:lnSpc>
              <a:buClr>
                <a:schemeClr val="accent4"/>
              </a:buClr>
            </a:pPr>
            <a:r>
              <a:rPr lang="en-US" sz="2400" b="1">
                <a:latin typeface="Arial"/>
                <a:cs typeface="Arial"/>
              </a:rPr>
              <a:t>KPIs EXPLAINED</a:t>
            </a:r>
            <a:endParaRPr lang="en-GB" sz="2000" b="1">
              <a:latin typeface="Arial"/>
              <a:cs typeface="Arial"/>
            </a:endParaRPr>
          </a:p>
          <a:p>
            <a:pPr marL="342900" indent="-342900">
              <a:lnSpc>
                <a:spcPct val="150000"/>
              </a:lnSpc>
              <a:buFont typeface="Arial"/>
              <a:buChar char="•"/>
            </a:pPr>
            <a:r>
              <a:rPr lang="en-US" sz="2000" b="1">
                <a:latin typeface="Arial"/>
                <a:ea typeface="Calibri Light"/>
                <a:cs typeface="Arial"/>
              </a:rPr>
              <a:t>Multi-Pizza Orders Count – 13,239</a:t>
            </a:r>
          </a:p>
          <a:p>
            <a:pPr>
              <a:lnSpc>
                <a:spcPct val="150000"/>
              </a:lnSpc>
            </a:pPr>
            <a:r>
              <a:rPr lang="en-US" sz="2000">
                <a:latin typeface="Arial"/>
                <a:ea typeface="Calibri Light"/>
                <a:cs typeface="Arial"/>
              </a:rPr>
              <a:t>This represents the total number of orders where customers bought more than one pizza.</a:t>
            </a:r>
            <a:endParaRPr lang="en-US" sz="2000" b="1">
              <a:latin typeface="Arial"/>
              <a:ea typeface="Calibri Light"/>
              <a:cs typeface="Arial"/>
            </a:endParaRPr>
          </a:p>
          <a:p>
            <a:pPr marL="342900" indent="-342900">
              <a:lnSpc>
                <a:spcPct val="150000"/>
              </a:lnSpc>
              <a:buFont typeface="Arial"/>
              <a:buChar char="•"/>
            </a:pPr>
            <a:r>
              <a:rPr lang="en-US" sz="2000" b="1">
                <a:latin typeface="Arial"/>
                <a:ea typeface="Calibri Light"/>
                <a:cs typeface="Arial"/>
              </a:rPr>
              <a:t>Single Pizza Orders Count – 8,111</a:t>
            </a:r>
          </a:p>
          <a:p>
            <a:pPr>
              <a:lnSpc>
                <a:spcPct val="150000"/>
              </a:lnSpc>
            </a:pPr>
            <a:r>
              <a:rPr lang="en-US" sz="2000">
                <a:latin typeface="Arial"/>
                <a:ea typeface="Calibri Light"/>
                <a:cs typeface="Arial"/>
              </a:rPr>
              <a:t>This shows the number of orders where only one pizza was purchased.</a:t>
            </a:r>
            <a:endParaRPr lang="en-US" sz="2000" b="1">
              <a:latin typeface="Arial"/>
              <a:ea typeface="Calibri Light"/>
              <a:cs typeface="Arial"/>
            </a:endParaRPr>
          </a:p>
          <a:p>
            <a:pPr>
              <a:lnSpc>
                <a:spcPct val="150000"/>
              </a:lnSpc>
            </a:pPr>
            <a:br>
              <a:rPr lang="en-US" sz="2000">
                <a:latin typeface="Arial"/>
                <a:ea typeface="+mn-lt"/>
                <a:cs typeface="+mn-lt"/>
              </a:rPr>
            </a:br>
            <a:r>
              <a:rPr lang="en-US" sz="2000">
                <a:latin typeface="Arial"/>
                <a:ea typeface="+mn-lt"/>
                <a:cs typeface="+mn-lt"/>
              </a:rPr>
              <a:t> </a:t>
            </a:r>
            <a:endParaRPr lang="en-US">
              <a:latin typeface="Arial"/>
              <a:ea typeface="Calibri Light"/>
              <a:cs typeface="Calibri Light"/>
            </a:endParaRPr>
          </a:p>
        </p:txBody>
      </p:sp>
    </p:spTree>
    <p:extLst>
      <p:ext uri="{BB962C8B-B14F-4D97-AF65-F5344CB8AC3E}">
        <p14:creationId xmlns:p14="http://schemas.microsoft.com/office/powerpoint/2010/main" val="3844812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5A76-61FA-9390-0217-8CCBF2497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7D4A1-9BA9-6033-072F-DD687341154E}"/>
              </a:ext>
            </a:extLst>
          </p:cNvPr>
          <p:cNvSpPr>
            <a:spLocks noGrp="1"/>
          </p:cNvSpPr>
          <p:nvPr>
            <p:ph type="title"/>
          </p:nvPr>
        </p:nvSpPr>
        <p:spPr>
          <a:xfrm>
            <a:off x="838200" y="184833"/>
            <a:ext cx="10515600" cy="700115"/>
          </a:xfrm>
        </p:spPr>
        <p:txBody>
          <a:bodyPr lIns="91440" tIns="45720" rIns="91440" bIns="45720" anchor="ctr"/>
          <a:lstStyle/>
          <a:p>
            <a:pPr algn="l"/>
            <a:r>
              <a:rPr lang="en-US"/>
              <a:t>Key Insights</a:t>
            </a:r>
          </a:p>
        </p:txBody>
      </p:sp>
      <p:sp>
        <p:nvSpPr>
          <p:cNvPr id="3" name="Content Placeholder 2">
            <a:extLst>
              <a:ext uri="{FF2B5EF4-FFF2-40B4-BE49-F238E27FC236}">
                <a16:creationId xmlns:a16="http://schemas.microsoft.com/office/drawing/2014/main" id="{CB03E631-0D46-FDA0-7886-C4158E2C3BA8}"/>
              </a:ext>
            </a:extLst>
          </p:cNvPr>
          <p:cNvSpPr>
            <a:spLocks noGrp="1"/>
          </p:cNvSpPr>
          <p:nvPr>
            <p:ph sz="quarter" idx="10"/>
          </p:nvPr>
        </p:nvSpPr>
        <p:spPr>
          <a:xfrm>
            <a:off x="556845" y="1402001"/>
            <a:ext cx="10515600" cy="4995924"/>
          </a:xfrm>
        </p:spPr>
        <p:txBody>
          <a:bodyPr lIns="91440" tIns="45720" rIns="91440" bIns="45720" anchor="t"/>
          <a:lstStyle/>
          <a:p>
            <a:pPr>
              <a:lnSpc>
                <a:spcPct val="100000"/>
              </a:lnSpc>
              <a:buClr>
                <a:srgbClr val="FF0000"/>
              </a:buClr>
              <a:buFont typeface="Arial" panose="05000000000000000000" pitchFamily="2" charset="2"/>
              <a:buChar char="•"/>
            </a:pPr>
            <a:endParaRPr lang="en-US" sz="2000">
              <a:solidFill>
                <a:schemeClr val="tx1"/>
              </a:solidFill>
              <a:latin typeface="Arial"/>
              <a:ea typeface="+mn-lt"/>
              <a:cs typeface="+mn-lt"/>
            </a:endParaRPr>
          </a:p>
          <a:p>
            <a:pPr>
              <a:lnSpc>
                <a:spcPct val="100000"/>
              </a:lnSpc>
              <a:buClr>
                <a:srgbClr val="FF0000"/>
              </a:buClr>
              <a:buFont typeface="Arial" panose="05000000000000000000" pitchFamily="2" charset="2"/>
              <a:buChar char="•"/>
            </a:pPr>
            <a:r>
              <a:rPr lang="en-US" sz="2000">
                <a:solidFill>
                  <a:schemeClr val="tx1"/>
                </a:solidFill>
                <a:latin typeface="Arial"/>
                <a:ea typeface="+mn-lt"/>
                <a:cs typeface="+mn-lt"/>
              </a:rPr>
              <a:t>62% of all orders are multi-pizza orders, while 38% are single-pizza orders. Customers typically order for groups, families, or shared meals.</a:t>
            </a:r>
            <a:endParaRPr lang="en-US">
              <a:solidFill>
                <a:schemeClr val="tx1"/>
              </a:solidFill>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Multi-pizza orders generate over 80% of total revenue, significantly higher than single orders. The revenue gap shows that large orders are the primary driver of business performance.</a:t>
            </a: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Multi orders spike between 5pm to 7pm confirming dinner-time group demand. Single orders spike at 1pm confirming lunch time demand.</a:t>
            </a: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Multi-orders consistently dominate in all categories – Classic, Supreme, Veggie and Chicken. The Chicken  category shows the highest multi-order share, suggesting it is the go-to option for group orders. Single orders appear more evenly spread across categories but remain a minority.</a:t>
            </a: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Calibri Light"/>
            </a:endParaRPr>
          </a:p>
          <a:p>
            <a:pPr>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a:p>
            <a:pPr>
              <a:lnSpc>
                <a:spcPct val="150000"/>
              </a:lnSpc>
              <a:buClr>
                <a:srgbClr val="FF0000"/>
              </a:buClr>
              <a:buFont typeface="Wingdings"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p:txBody>
      </p:sp>
    </p:spTree>
    <p:extLst>
      <p:ext uri="{BB962C8B-B14F-4D97-AF65-F5344CB8AC3E}">
        <p14:creationId xmlns:p14="http://schemas.microsoft.com/office/powerpoint/2010/main" val="354778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8C63-18E7-68CF-3E9A-3C2D943F4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00E60-9AC9-7384-3EA6-89201189FD0B}"/>
              </a:ext>
            </a:extLst>
          </p:cNvPr>
          <p:cNvSpPr>
            <a:spLocks noGrp="1"/>
          </p:cNvSpPr>
          <p:nvPr>
            <p:ph type="title"/>
          </p:nvPr>
        </p:nvSpPr>
        <p:spPr>
          <a:xfrm>
            <a:off x="838200" y="184833"/>
            <a:ext cx="10515600" cy="1217699"/>
          </a:xfrm>
        </p:spPr>
        <p:txBody>
          <a:bodyPr lIns="91440" tIns="45720" rIns="91440" bIns="45720" anchor="ctr"/>
          <a:lstStyle/>
          <a:p>
            <a:pPr algn="l"/>
            <a:r>
              <a:rPr lang="en-US"/>
              <a:t>Key Insights – Page 4 Revenue Performance</a:t>
            </a:r>
          </a:p>
        </p:txBody>
      </p:sp>
      <p:sp>
        <p:nvSpPr>
          <p:cNvPr id="3" name="Content Placeholder 2">
            <a:extLst>
              <a:ext uri="{FF2B5EF4-FFF2-40B4-BE49-F238E27FC236}">
                <a16:creationId xmlns:a16="http://schemas.microsoft.com/office/drawing/2014/main" id="{F37AFD05-FA9E-B831-6865-9EEEC289528B}"/>
              </a:ext>
            </a:extLst>
          </p:cNvPr>
          <p:cNvSpPr>
            <a:spLocks noGrp="1"/>
          </p:cNvSpPr>
          <p:nvPr>
            <p:ph sz="quarter" idx="10"/>
          </p:nvPr>
        </p:nvSpPr>
        <p:spPr>
          <a:xfrm>
            <a:off x="556845" y="1402001"/>
            <a:ext cx="10515600" cy="4995924"/>
          </a:xfrm>
        </p:spPr>
        <p:txBody>
          <a:bodyPr lIns="91440" tIns="45720" rIns="91440" bIns="45720" anchor="t"/>
          <a:lstStyle/>
          <a:p>
            <a:pPr>
              <a:lnSpc>
                <a:spcPct val="100000"/>
              </a:lnSpc>
              <a:buClr>
                <a:srgbClr val="FF0000"/>
              </a:buClr>
              <a:buFont typeface="Arial" panose="05000000000000000000" pitchFamily="2" charset="2"/>
              <a:buChar char="•"/>
            </a:pPr>
            <a:endParaRPr lang="en-US" sz="2000">
              <a:solidFill>
                <a:schemeClr val="tx1"/>
              </a:solidFill>
              <a:latin typeface="Arial"/>
              <a:ea typeface="+mn-lt"/>
              <a:cs typeface="+mn-lt"/>
            </a:endParaRPr>
          </a:p>
          <a:p>
            <a:pPr>
              <a:lnSpc>
                <a:spcPct val="100000"/>
              </a:lnSpc>
              <a:buClr>
                <a:srgbClr val="FF0000"/>
              </a:buClr>
              <a:buFont typeface="Arial" panose="05000000000000000000" pitchFamily="2" charset="2"/>
              <a:buChar char="•"/>
            </a:pPr>
            <a:r>
              <a:rPr lang="en-US" sz="2000">
                <a:solidFill>
                  <a:schemeClr val="tx1"/>
                </a:solidFill>
                <a:latin typeface="Arial"/>
                <a:ea typeface="Calibri Light"/>
                <a:cs typeface="Calibri Light"/>
              </a:rPr>
              <a:t>Multi-order revenue remains significantly higher across all months. A slight dip occurs for both orders in February, September and December.</a:t>
            </a: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Sans-Serif" panose="05000000000000000000" pitchFamily="2" charset="2"/>
              <a:buChar char="•"/>
            </a:pPr>
            <a:r>
              <a:rPr lang="en-US" sz="2000">
                <a:solidFill>
                  <a:srgbClr val="404040"/>
                </a:solidFill>
                <a:latin typeface="Arial"/>
                <a:ea typeface="Calibri Light"/>
                <a:cs typeface="Calibri Light"/>
              </a:rPr>
              <a:t>The t</a:t>
            </a:r>
            <a:r>
              <a:rPr lang="en-US" sz="2000">
                <a:solidFill>
                  <a:schemeClr val="tx1"/>
                </a:solidFill>
                <a:latin typeface="Arial"/>
                <a:ea typeface="Calibri Light"/>
                <a:cs typeface="Calibri Light"/>
              </a:rPr>
              <a:t>op performers are dominated by Classic and Supreme categories, led by The Thai Chicken Pizza, The Barbecue Chicken Pizza and The California Chicken Pizza. These</a:t>
            </a:r>
            <a:r>
              <a:rPr lang="en-US" sz="2000">
                <a:solidFill>
                  <a:schemeClr val="tx1"/>
                </a:solidFill>
                <a:latin typeface="Arial"/>
                <a:cs typeface="Arial"/>
              </a:rPr>
              <a:t> pizzas contribute the highest revenue, indicating strong customer preference for chicken-based and classic flavors.</a:t>
            </a:r>
            <a:endParaRPr lang="en-US">
              <a:solidFill>
                <a:schemeClr val="tx1"/>
              </a:solidFill>
              <a:latin typeface="Arial"/>
              <a:ea typeface="Calibri Light"/>
              <a:cs typeface="Arial"/>
            </a:endParaRPr>
          </a:p>
          <a:p>
            <a:pPr>
              <a:lnSpc>
                <a:spcPct val="100000"/>
              </a:lnSpc>
              <a:buClr>
                <a:srgbClr val="FF0000"/>
              </a:buClr>
              <a:buFont typeface="Arial,Sans-Serif" panose="05000000000000000000" pitchFamily="2" charset="2"/>
              <a:buChar char="•"/>
            </a:pPr>
            <a:r>
              <a:rPr lang="en-US" sz="2000">
                <a:solidFill>
                  <a:schemeClr val="tx1"/>
                </a:solidFill>
                <a:latin typeface="Arial"/>
                <a:ea typeface="Calibri Light"/>
                <a:cs typeface="Arial"/>
              </a:rPr>
              <a:t>The lowest revenue generating pizzas include </a:t>
            </a:r>
            <a:r>
              <a:rPr lang="en-US" sz="2000">
                <a:solidFill>
                  <a:schemeClr val="tx1"/>
                </a:solidFill>
                <a:latin typeface="Arial"/>
                <a:ea typeface="Calibri Light"/>
                <a:cs typeface="Calibri Light"/>
              </a:rPr>
              <a:t>The</a:t>
            </a:r>
            <a:r>
              <a:rPr lang="en-US" sz="2000">
                <a:solidFill>
                  <a:schemeClr val="tx1"/>
                </a:solidFill>
                <a:latin typeface="Arial"/>
                <a:ea typeface="+mn-lt"/>
                <a:cs typeface="+mn-lt"/>
              </a:rPr>
              <a:t> Brie Carre Pizza, The Green Garden Pizza and The Spinach Supreme Pizza. These items may require  menu re-evaluation, promotional strategies or targeted marketing</a:t>
            </a:r>
            <a:endParaRPr lang="en-US">
              <a:solidFill>
                <a:schemeClr val="tx1"/>
              </a:solidFill>
              <a:latin typeface="Arial"/>
              <a:ea typeface="Calibri Light"/>
              <a:cs typeface="Calibri Light"/>
            </a:endParaRPr>
          </a:p>
          <a:p>
            <a:pPr marL="266700" lvl="1" indent="0">
              <a:lnSpc>
                <a:spcPct val="100000"/>
              </a:lnSpc>
              <a:buNone/>
            </a:pP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Calibri Light"/>
            </a:endParaRPr>
          </a:p>
          <a:p>
            <a:pPr>
              <a:lnSpc>
                <a:spcPct val="100000"/>
              </a:lnSpc>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Calibri Light"/>
            </a:endParaRPr>
          </a:p>
          <a:p>
            <a:pPr>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a:p>
            <a:pPr>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a:p>
            <a:pPr>
              <a:buClr>
                <a:srgbClr val="FF0000"/>
              </a:buClr>
              <a:buFont typeface="Arial"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a:p>
            <a:pPr>
              <a:lnSpc>
                <a:spcPct val="150000"/>
              </a:lnSpc>
              <a:buClr>
                <a:srgbClr val="FF0000"/>
              </a:buClr>
              <a:buFont typeface="Wingdings" panose="05000000000000000000" pitchFamily="2" charset="2"/>
              <a:buChar char="§"/>
            </a:pPr>
            <a:endParaRPr lang="en-US" sz="2000">
              <a:solidFill>
                <a:schemeClr val="tx1"/>
              </a:solidFill>
              <a:latin typeface="Arial" panose="020B0604020202020204" pitchFamily="34" charset="0"/>
              <a:ea typeface="Calibri Light"/>
              <a:cs typeface="Arial" panose="020B0604020202020204" pitchFamily="34" charset="0"/>
            </a:endParaRPr>
          </a:p>
        </p:txBody>
      </p:sp>
    </p:spTree>
    <p:extLst>
      <p:ext uri="{BB962C8B-B14F-4D97-AF65-F5344CB8AC3E}">
        <p14:creationId xmlns:p14="http://schemas.microsoft.com/office/powerpoint/2010/main" val="3358362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E036E-49AC-3CBA-A704-5D28A1A7B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ABCCB-D7EE-3077-2D20-93E5EB226371}"/>
              </a:ext>
            </a:extLst>
          </p:cNvPr>
          <p:cNvSpPr>
            <a:spLocks noGrp="1"/>
          </p:cNvSpPr>
          <p:nvPr>
            <p:ph type="title"/>
          </p:nvPr>
        </p:nvSpPr>
        <p:spPr>
          <a:xfrm>
            <a:off x="838200" y="184833"/>
            <a:ext cx="10515600" cy="700115"/>
          </a:xfrm>
        </p:spPr>
        <p:txBody>
          <a:bodyPr lIns="91440" tIns="45720" rIns="91440" bIns="45720" anchor="ctr"/>
          <a:lstStyle/>
          <a:p>
            <a:pPr algn="l"/>
            <a:r>
              <a:rPr lang="en-US"/>
              <a:t>Recommendation</a:t>
            </a:r>
          </a:p>
        </p:txBody>
      </p:sp>
      <p:sp>
        <p:nvSpPr>
          <p:cNvPr id="3" name="Content Placeholder 2">
            <a:extLst>
              <a:ext uri="{FF2B5EF4-FFF2-40B4-BE49-F238E27FC236}">
                <a16:creationId xmlns:a16="http://schemas.microsoft.com/office/drawing/2014/main" id="{848EF137-D486-8B3E-90A2-65799370EFCA}"/>
              </a:ext>
            </a:extLst>
          </p:cNvPr>
          <p:cNvSpPr>
            <a:spLocks noGrp="1"/>
          </p:cNvSpPr>
          <p:nvPr>
            <p:ph sz="quarter" idx="10"/>
          </p:nvPr>
        </p:nvSpPr>
        <p:spPr>
          <a:xfrm>
            <a:off x="556845" y="913171"/>
            <a:ext cx="10515600" cy="5772301"/>
          </a:xfrm>
        </p:spPr>
        <p:txBody>
          <a:bodyPr lIns="91440" tIns="45720" rIns="91440" bIns="45720" anchor="t"/>
          <a:lstStyle/>
          <a:p>
            <a:pPr>
              <a:lnSpc>
                <a:spcPct val="150000"/>
              </a:lnSpc>
              <a:buClr>
                <a:srgbClr val="FF0000"/>
              </a:buClr>
              <a:buFont typeface="Arial" panose="05000000000000000000" pitchFamily="2" charset="2"/>
              <a:buChar char="•"/>
            </a:pPr>
            <a:r>
              <a:rPr lang="en-US" sz="2000" b="1">
                <a:solidFill>
                  <a:schemeClr val="tx1"/>
                </a:solidFill>
                <a:latin typeface="Arial"/>
                <a:ea typeface="+mn-lt"/>
                <a:cs typeface="+mn-lt"/>
              </a:rPr>
              <a:t>Boost Multi-Pizza Sales:</a:t>
            </a:r>
            <a:r>
              <a:rPr lang="en-US" sz="2000">
                <a:solidFill>
                  <a:schemeClr val="tx1"/>
                </a:solidFill>
                <a:latin typeface="Arial"/>
                <a:ea typeface="+mn-lt"/>
                <a:cs typeface="+mn-lt"/>
              </a:rPr>
              <a:t> Expand combo deals and group offers to maintain strong multi-order demand.</a:t>
            </a:r>
            <a:endParaRPr lang="en-US" sz="2000">
              <a:solidFill>
                <a:schemeClr val="tx1"/>
              </a:solidFill>
              <a:latin typeface="Arial"/>
              <a:cs typeface="Arial" panose="020B0604020202020204" pitchFamily="34" charset="0"/>
            </a:endParaRPr>
          </a:p>
          <a:p>
            <a:pPr>
              <a:lnSpc>
                <a:spcPct val="150000"/>
              </a:lnSpc>
              <a:buFont typeface="Arial" panose="05000000000000000000" pitchFamily="2" charset="2"/>
              <a:buChar char="•"/>
            </a:pPr>
            <a:r>
              <a:rPr lang="en-US" sz="2000" b="1">
                <a:solidFill>
                  <a:schemeClr val="tx1"/>
                </a:solidFill>
                <a:latin typeface="Arial"/>
                <a:ea typeface="+mn-lt"/>
                <a:cs typeface="+mn-lt"/>
              </a:rPr>
              <a:t>Fix Low Performers:</a:t>
            </a:r>
            <a:r>
              <a:rPr lang="en-US" sz="2000">
                <a:solidFill>
                  <a:schemeClr val="tx1"/>
                </a:solidFill>
                <a:latin typeface="Arial"/>
                <a:ea typeface="+mn-lt"/>
                <a:cs typeface="+mn-lt"/>
              </a:rPr>
              <a:t> Review ingredients, pricing, and marketing for the worst-selling pizzas.</a:t>
            </a:r>
            <a:endParaRPr lang="en-US" sz="2000">
              <a:solidFill>
                <a:srgbClr val="404040"/>
              </a:solidFill>
              <a:latin typeface="Arial"/>
              <a:cs typeface="Arial"/>
            </a:endParaRPr>
          </a:p>
          <a:p>
            <a:pPr>
              <a:lnSpc>
                <a:spcPct val="150000"/>
              </a:lnSpc>
              <a:buFont typeface="Arial" panose="05000000000000000000" pitchFamily="2" charset="2"/>
              <a:buChar char="•"/>
            </a:pPr>
            <a:r>
              <a:rPr lang="en-US" sz="2000" b="1">
                <a:solidFill>
                  <a:schemeClr val="tx1"/>
                </a:solidFill>
                <a:latin typeface="Arial"/>
                <a:ea typeface="+mn-lt"/>
                <a:cs typeface="+mn-lt"/>
              </a:rPr>
              <a:t>Use Peak Hours Smartly:</a:t>
            </a:r>
            <a:r>
              <a:rPr lang="en-US" sz="2000">
                <a:solidFill>
                  <a:schemeClr val="tx1"/>
                </a:solidFill>
                <a:latin typeface="Arial"/>
                <a:ea typeface="+mn-lt"/>
                <a:cs typeface="+mn-lt"/>
              </a:rPr>
              <a:t> Increase staffing during peak hours and promote discounts during slow hours.</a:t>
            </a:r>
            <a:endParaRPr lang="en-US" sz="2000">
              <a:solidFill>
                <a:schemeClr val="tx1"/>
              </a:solidFill>
              <a:latin typeface="Arial"/>
              <a:cs typeface="Arial"/>
            </a:endParaRPr>
          </a:p>
          <a:p>
            <a:pPr>
              <a:lnSpc>
                <a:spcPct val="150000"/>
              </a:lnSpc>
              <a:buFont typeface="Arial" panose="05000000000000000000" pitchFamily="2" charset="2"/>
              <a:buChar char="•"/>
            </a:pPr>
            <a:r>
              <a:rPr lang="en-US" sz="2000" b="1">
                <a:solidFill>
                  <a:schemeClr val="tx1"/>
                </a:solidFill>
                <a:latin typeface="Arial"/>
                <a:ea typeface="+mn-lt"/>
                <a:cs typeface="+mn-lt"/>
              </a:rPr>
              <a:t>Optimize Menu Mix:</a:t>
            </a:r>
            <a:r>
              <a:rPr lang="en-US" sz="2000">
                <a:solidFill>
                  <a:schemeClr val="tx1"/>
                </a:solidFill>
                <a:latin typeface="Arial"/>
                <a:ea typeface="+mn-lt"/>
                <a:cs typeface="+mn-lt"/>
              </a:rPr>
              <a:t> Stock more Classic, Supreme, and Chicken pizzas; promote Large/Medium sizes.</a:t>
            </a:r>
            <a:endParaRPr lang="en-US" sz="2000">
              <a:solidFill>
                <a:srgbClr val="404040"/>
              </a:solidFill>
              <a:latin typeface="Arial"/>
              <a:cs typeface="Arial"/>
            </a:endParaRPr>
          </a:p>
          <a:p>
            <a:pPr>
              <a:lnSpc>
                <a:spcPct val="150000"/>
              </a:lnSpc>
              <a:buFont typeface="Arial" panose="05000000000000000000" pitchFamily="2" charset="2"/>
              <a:buChar char="•"/>
            </a:pPr>
            <a:r>
              <a:rPr lang="en-US" sz="2000" b="1">
                <a:solidFill>
                  <a:schemeClr val="tx1"/>
                </a:solidFill>
                <a:latin typeface="Arial"/>
                <a:ea typeface="+mn-lt"/>
                <a:cs typeface="+mn-lt"/>
              </a:rPr>
              <a:t>Seasonal Planning:</a:t>
            </a:r>
            <a:r>
              <a:rPr lang="en-US" sz="2000">
                <a:solidFill>
                  <a:schemeClr val="tx1"/>
                </a:solidFill>
                <a:latin typeface="Arial"/>
                <a:ea typeface="+mn-lt"/>
                <a:cs typeface="+mn-lt"/>
              </a:rPr>
              <a:t> Increase campaigns in high-revenue months and recovery promos in slower months.</a:t>
            </a:r>
            <a:endParaRPr lang="en-US" sz="2000">
              <a:solidFill>
                <a:srgbClr val="404040"/>
              </a:solidFill>
              <a:latin typeface="Arial"/>
              <a:cs typeface="Arial"/>
            </a:endParaRPr>
          </a:p>
          <a:p>
            <a:pPr marL="0" indent="0">
              <a:buNone/>
            </a:pPr>
            <a:endParaRPr lang="en-US" sz="2000">
              <a:solidFill>
                <a:schemeClr val="tx1"/>
              </a:solidFill>
              <a:latin typeface="Arial"/>
              <a:ea typeface="Calibri Light"/>
              <a:cs typeface="Calibri Light"/>
            </a:endParaRPr>
          </a:p>
          <a:p>
            <a:pPr>
              <a:lnSpc>
                <a:spcPct val="150000"/>
              </a:lnSpc>
              <a:buClr>
                <a:srgbClr val="FF0000"/>
              </a:buClr>
              <a:buFont typeface="Wingdings" panose="05000000000000000000" pitchFamily="2" charset="2"/>
              <a:buChar char="§"/>
            </a:pPr>
            <a:endParaRPr lang="en-US" sz="2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07715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A25EA-7101-E1EC-425D-122165070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A0F3F-BD96-E615-977C-A6C559CA286B}"/>
              </a:ext>
            </a:extLst>
          </p:cNvPr>
          <p:cNvSpPr>
            <a:spLocks noGrp="1"/>
          </p:cNvSpPr>
          <p:nvPr>
            <p:ph type="title"/>
          </p:nvPr>
        </p:nvSpPr>
        <p:spPr>
          <a:xfrm>
            <a:off x="838200" y="184833"/>
            <a:ext cx="10515600" cy="700115"/>
          </a:xfrm>
        </p:spPr>
        <p:txBody>
          <a:bodyPr/>
          <a:lstStyle/>
          <a:p>
            <a:pPr algn="l"/>
            <a:r>
              <a:rPr lang="en-US"/>
              <a:t>Conclusion</a:t>
            </a:r>
          </a:p>
        </p:txBody>
      </p:sp>
      <p:sp>
        <p:nvSpPr>
          <p:cNvPr id="3" name="Content Placeholder 2">
            <a:extLst>
              <a:ext uri="{FF2B5EF4-FFF2-40B4-BE49-F238E27FC236}">
                <a16:creationId xmlns:a16="http://schemas.microsoft.com/office/drawing/2014/main" id="{A591F063-2E50-88A9-BE50-3563AE5C595C}"/>
              </a:ext>
            </a:extLst>
          </p:cNvPr>
          <p:cNvSpPr>
            <a:spLocks noGrp="1"/>
          </p:cNvSpPr>
          <p:nvPr>
            <p:ph sz="quarter" idx="10"/>
          </p:nvPr>
        </p:nvSpPr>
        <p:spPr>
          <a:xfrm>
            <a:off x="556845" y="985057"/>
            <a:ext cx="10515600" cy="5872943"/>
          </a:xfrm>
        </p:spPr>
        <p:txBody>
          <a:bodyPr lIns="91440" tIns="45720" rIns="91440" bIns="45720" anchor="t"/>
          <a:lstStyle/>
          <a:p>
            <a:pPr>
              <a:lnSpc>
                <a:spcPct val="150000"/>
              </a:lnSpc>
              <a:buClr>
                <a:srgbClr val="FF0000"/>
              </a:buClr>
              <a:buFont typeface="Wingdings" panose="05000000000000000000" pitchFamily="2" charset="2"/>
              <a:buChar char="§"/>
            </a:pPr>
            <a:r>
              <a:rPr lang="en-US" sz="2000">
                <a:solidFill>
                  <a:schemeClr val="tx1"/>
                </a:solidFill>
                <a:latin typeface="Arial"/>
                <a:cs typeface="Arial"/>
              </a:rPr>
              <a:t>The business shows strong overall performance with steady customer demand.</a:t>
            </a:r>
          </a:p>
          <a:p>
            <a:pPr>
              <a:lnSpc>
                <a:spcPct val="150000"/>
              </a:lnSpc>
              <a:buClr>
                <a:srgbClr val="FF0000"/>
              </a:buClr>
              <a:buFont typeface="Wingdings" panose="05000000000000000000" pitchFamily="2" charset="2"/>
              <a:buChar char="§"/>
            </a:pPr>
            <a:r>
              <a:rPr lang="en-US" sz="2000">
                <a:solidFill>
                  <a:schemeClr val="tx1"/>
                </a:solidFill>
                <a:latin typeface="Arial"/>
                <a:cs typeface="Arial"/>
              </a:rPr>
              <a:t>Multi-pizza orders and large and medium sized pizzas drive most of the revenue.</a:t>
            </a:r>
          </a:p>
          <a:p>
            <a:pPr>
              <a:lnSpc>
                <a:spcPct val="150000"/>
              </a:lnSpc>
              <a:buClr>
                <a:srgbClr val="FF0000"/>
              </a:buClr>
              <a:buFont typeface="Wingdings" panose="05000000000000000000" pitchFamily="2" charset="2"/>
              <a:buChar char="§"/>
            </a:pPr>
            <a:r>
              <a:rPr lang="en-US" sz="2000">
                <a:solidFill>
                  <a:schemeClr val="tx1"/>
                </a:solidFill>
                <a:latin typeface="Arial"/>
                <a:cs typeface="Arial"/>
              </a:rPr>
              <a:t>Classic and Supreme pizzas remain customer favorites, while low-performing pizzas need review.</a:t>
            </a:r>
          </a:p>
          <a:p>
            <a:pPr>
              <a:lnSpc>
                <a:spcPct val="150000"/>
              </a:lnSpc>
              <a:buClr>
                <a:srgbClr val="FF0000"/>
              </a:buClr>
              <a:buFont typeface="Wingdings" panose="05000000000000000000" pitchFamily="2" charset="2"/>
              <a:buChar char="§"/>
            </a:pPr>
            <a:r>
              <a:rPr lang="en-US" sz="2000">
                <a:solidFill>
                  <a:schemeClr val="tx1"/>
                </a:solidFill>
                <a:latin typeface="Arial"/>
                <a:cs typeface="Arial"/>
              </a:rPr>
              <a:t>These insights support better menu decisions, marketing, and operations.</a:t>
            </a:r>
            <a:endParaRPr lang="en-US" sz="2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0800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4448-4930-46E0-AD53-50021D9DCF2B}"/>
              </a:ext>
            </a:extLst>
          </p:cNvPr>
          <p:cNvSpPr>
            <a:spLocks noGrp="1"/>
          </p:cNvSpPr>
          <p:nvPr>
            <p:ph type="title"/>
          </p:nvPr>
        </p:nvSpPr>
        <p:spPr>
          <a:xfrm>
            <a:off x="1200795" y="3013501"/>
            <a:ext cx="4275138" cy="830997"/>
          </a:xfrm>
        </p:spPr>
        <p:txBody>
          <a:bodyPr/>
          <a:lstStyle/>
          <a:p>
            <a:r>
              <a:rPr lang="en-US" sz="5400"/>
              <a:t>THANK  YOU</a:t>
            </a:r>
          </a:p>
          <a:p>
            <a:endParaRPr lang="en-US"/>
          </a:p>
        </p:txBody>
      </p:sp>
      <p:pic>
        <p:nvPicPr>
          <p:cNvPr id="20" name="Picture Placeholder 8" descr="close up of bridge">
            <a:extLst>
              <a:ext uri="{FF2B5EF4-FFF2-40B4-BE49-F238E27FC236}">
                <a16:creationId xmlns:a16="http://schemas.microsoft.com/office/drawing/2014/main" id="{2EC47CED-7A85-4080-9C7C-3921E48924A7}"/>
              </a:ext>
            </a:extLst>
          </p:cNvPr>
          <p:cNvPicPr>
            <a:picLocks noGrp="1" noChangeAspect="1"/>
          </p:cNvPicPr>
          <p:nvPr>
            <p:ph type="pic" sz="quarter" idx="13"/>
          </p:nvPr>
        </p:nvPicPr>
        <p:blipFill rotWithShape="1">
          <a:blip r:embed="rId2"/>
          <a:srcRect l="17082" r="17082"/>
          <a:stretch/>
        </p:blipFill>
        <p:spPr>
          <a:xfrm>
            <a:off x="5888038" y="533400"/>
            <a:ext cx="5541962" cy="5611813"/>
          </a:xfrm>
        </p:spPr>
      </p:pic>
    </p:spTree>
    <p:extLst>
      <p:ext uri="{BB962C8B-B14F-4D97-AF65-F5344CB8AC3E}">
        <p14:creationId xmlns:p14="http://schemas.microsoft.com/office/powerpoint/2010/main" val="715534863"/>
      </p:ext>
    </p:extLst>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3_LW_v2" id="{C590A786-F65F-42F6-9E48-12C78E3C86B3}" vid="{FEE92C9D-6350-4ECD-87A4-004D12BB2B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22</Slides>
  <Notes>12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PIZZA SALES AND PERFORMANCE DASHBOARD </vt:lpstr>
      <vt:lpstr>Overview</vt:lpstr>
      <vt:lpstr>Problem Statement</vt:lpstr>
      <vt:lpstr>Project Objectives</vt:lpstr>
      <vt:lpstr>Dataset Overview</vt:lpstr>
      <vt:lpstr>Methodology</vt:lpstr>
      <vt:lpstr>Methodology</vt:lpstr>
      <vt:lpstr>Business Questions</vt:lpstr>
      <vt:lpstr>Dashboard</vt:lpstr>
      <vt:lpstr>Dashboard</vt:lpstr>
      <vt:lpstr>Dashboard</vt:lpstr>
      <vt:lpstr>Dashboard</vt:lpstr>
      <vt:lpstr>PowerPoint Presentation</vt:lpstr>
      <vt:lpstr>Key Insights</vt:lpstr>
      <vt:lpstr>PowerPoint Presentation</vt:lpstr>
      <vt:lpstr>Key Insights</vt:lpstr>
      <vt:lpstr>PowerPoint Presentation</vt:lpstr>
      <vt:lpstr>Key Insights</vt:lpstr>
      <vt:lpstr>Key Insights – Page 4 Revenue Performance</vt:lpstr>
      <vt:lpstr>Recommendation</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PIZZA SALES AND PERFORMANCE DASHBOARD </dc:title>
  <dc:creator>Olivia Aggrey</dc:creator>
  <cp:revision>21</cp:revision>
  <dcterms:created xsi:type="dcterms:W3CDTF">2025-09-04T16:19:25Z</dcterms:created>
  <dcterms:modified xsi:type="dcterms:W3CDTF">2025-11-29T17:23:50Z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